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97"/>
    <p:restoredTop sz="94675"/>
  </p:normalViewPr>
  <p:slideViewPr>
    <p:cSldViewPr snapToGrid="0">
      <p:cViewPr>
        <p:scale>
          <a:sx n="97" d="100"/>
          <a:sy n="97" d="100"/>
        </p:scale>
        <p:origin x="1264"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5"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MALE</a:t>
            </a:r>
            <a:r>
              <a:rPr lang="en-US" baseline="0" dirty="0"/>
              <a:t> AND FEMALE PERCENTAGE</a:t>
            </a:r>
          </a:p>
        </c:rich>
      </c:tx>
      <c:layout>
        <c:manualLayout>
          <c:xMode val="edge"/>
          <c:yMode val="edge"/>
          <c:x val="0.30742942392625466"/>
          <c:y val="0.8980489658925751"/>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BA2-8843-9229-0048654E236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BA2-8843-9229-0048654E2368}"/>
              </c:ext>
            </c:extLst>
          </c:dPt>
          <c:cat>
            <c:strRef>
              <c:f>Sheet1!$A$1:$A$2</c:f>
              <c:strCache>
                <c:ptCount val="2"/>
                <c:pt idx="0">
                  <c:v>male</c:v>
                </c:pt>
                <c:pt idx="1">
                  <c:v>female</c:v>
                </c:pt>
              </c:strCache>
            </c:strRef>
          </c:cat>
          <c:val>
            <c:numRef>
              <c:f>Sheet1!$B$1:$B$2</c:f>
              <c:numCache>
                <c:formatCode>0.00%</c:formatCode>
                <c:ptCount val="2"/>
                <c:pt idx="0">
                  <c:v>0.54430000000000001</c:v>
                </c:pt>
                <c:pt idx="1">
                  <c:v>0.45569999999999999</c:v>
                </c:pt>
              </c:numCache>
            </c:numRef>
          </c:val>
          <c:extLst>
            <c:ext xmlns:c16="http://schemas.microsoft.com/office/drawing/2014/chart" uri="{C3380CC4-5D6E-409C-BE32-E72D297353CC}">
              <c16:uniqueId val="{00000004-5BA2-8843-9229-0048654E2368}"/>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8070260262730935"/>
          <c:y val="0.59158723083469811"/>
          <c:w val="0.15477831000614556"/>
          <c:h val="6.763525978642294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Sheet1!$B$2</c:f>
              <c:strCache>
                <c:ptCount val="1"/>
                <c:pt idx="0">
                  <c:v>16.88%</c:v>
                </c:pt>
              </c:strCache>
            </c:strRef>
          </c:tx>
          <c:spPr>
            <a:solidFill>
              <a:schemeClr val="accent1"/>
            </a:solidFill>
            <a:ln>
              <a:noFill/>
            </a:ln>
            <a:effectLst/>
          </c:spPr>
          <c:invertIfNegative val="0"/>
          <c:cat>
            <c:strRef>
              <c:f>Sheet1!$A$3:$A$6</c:f>
              <c:strCache>
                <c:ptCount val="4"/>
                <c:pt idx="0">
                  <c:v>•Non-Minority </c:v>
                </c:pt>
                <c:pt idx="3">
                  <c:v>mean</c:v>
                </c:pt>
              </c:strCache>
            </c:strRef>
          </c:cat>
          <c:val>
            <c:numRef>
              <c:f>Sheet1!$B$3:$B$6</c:f>
              <c:numCache>
                <c:formatCode>General</c:formatCode>
                <c:ptCount val="4"/>
                <c:pt idx="0" formatCode="0.00%">
                  <c:v>0.83120000000000005</c:v>
                </c:pt>
                <c:pt idx="3" formatCode="&quot;$&quot;#,##0.00_);[Red]\(&quot;$&quot;#,##0.00\)">
                  <c:v>34019.57</c:v>
                </c:pt>
              </c:numCache>
            </c:numRef>
          </c:val>
          <c:extLst>
            <c:ext xmlns:c16="http://schemas.microsoft.com/office/drawing/2014/chart" uri="{C3380CC4-5D6E-409C-BE32-E72D297353CC}">
              <c16:uniqueId val="{00000000-C1DA-F14B-9A70-7EDDA5F6D4E6}"/>
            </c:ext>
          </c:extLst>
        </c:ser>
        <c:dLbls>
          <c:showLegendKey val="0"/>
          <c:showVal val="0"/>
          <c:showCatName val="0"/>
          <c:showSerName val="0"/>
          <c:showPercent val="0"/>
          <c:showBubbleSize val="0"/>
        </c:dLbls>
        <c:gapWidth val="219"/>
        <c:overlap val="-27"/>
        <c:axId val="903497855"/>
        <c:axId val="903499567"/>
      </c:barChart>
      <c:lineChart>
        <c:grouping val="standard"/>
        <c:varyColors val="0"/>
        <c:ser>
          <c:idx val="1"/>
          <c:order val="1"/>
          <c:tx>
            <c:strRef>
              <c:f>Sheet1!$C$2</c:f>
              <c:strCache>
                <c:ptCount val="1"/>
              </c:strCache>
            </c:strRef>
          </c:tx>
          <c:spPr>
            <a:ln w="28575" cap="rnd">
              <a:solidFill>
                <a:schemeClr val="accent2"/>
              </a:solidFill>
              <a:round/>
            </a:ln>
            <a:effectLst/>
          </c:spPr>
          <c:marker>
            <c:symbol val="none"/>
          </c:marker>
          <c:cat>
            <c:strRef>
              <c:f>Sheet1!$A$3:$A$6</c:f>
              <c:strCache>
                <c:ptCount val="4"/>
                <c:pt idx="0">
                  <c:v>•Non-Minority </c:v>
                </c:pt>
                <c:pt idx="3">
                  <c:v>mean</c:v>
                </c:pt>
              </c:strCache>
            </c:strRef>
          </c:cat>
          <c:val>
            <c:numRef>
              <c:f>Sheet1!$C$3:$C$6</c:f>
              <c:numCache>
                <c:formatCode>General</c:formatCode>
                <c:ptCount val="4"/>
              </c:numCache>
            </c:numRef>
          </c:val>
          <c:smooth val="0"/>
          <c:extLst>
            <c:ext xmlns:c16="http://schemas.microsoft.com/office/drawing/2014/chart" uri="{C3380CC4-5D6E-409C-BE32-E72D297353CC}">
              <c16:uniqueId val="{00000001-C1DA-F14B-9A70-7EDDA5F6D4E6}"/>
            </c:ext>
          </c:extLst>
        </c:ser>
        <c:dLbls>
          <c:showLegendKey val="0"/>
          <c:showVal val="0"/>
          <c:showCatName val="0"/>
          <c:showSerName val="0"/>
          <c:showPercent val="0"/>
          <c:showBubbleSize val="0"/>
        </c:dLbls>
        <c:marker val="1"/>
        <c:smooth val="0"/>
        <c:axId val="1359126607"/>
        <c:axId val="1359124879"/>
      </c:lineChart>
      <c:catAx>
        <c:axId val="90349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3499567"/>
        <c:crosses val="autoZero"/>
        <c:auto val="1"/>
        <c:lblAlgn val="ctr"/>
        <c:lblOffset val="100"/>
        <c:noMultiLvlLbl val="0"/>
      </c:catAx>
      <c:valAx>
        <c:axId val="90349956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3497855"/>
        <c:crosses val="autoZero"/>
        <c:crossBetween val="between"/>
      </c:valAx>
      <c:valAx>
        <c:axId val="1359124879"/>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9126607"/>
        <c:crosses val="max"/>
        <c:crossBetween val="between"/>
      </c:valAx>
      <c:catAx>
        <c:axId val="1359126607"/>
        <c:scaling>
          <c:orientation val="minMax"/>
        </c:scaling>
        <c:delete val="1"/>
        <c:axPos val="b"/>
        <c:numFmt formatCode="General" sourceLinked="1"/>
        <c:majorTickMark val="none"/>
        <c:minorTickMark val="none"/>
        <c:tickLblPos val="nextTo"/>
        <c:crossAx val="135912487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A48C-1E45-8368-0AA68F11A895}"/>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A48C-1E45-8368-0AA68F11A895}"/>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•Minority </c:v>
                </c:pt>
                <c:pt idx="1">
                  <c:v>•Non-Minority </c:v>
                </c:pt>
              </c:strCache>
            </c:strRef>
          </c:cat>
          <c:val>
            <c:numRef>
              <c:f>Sheet1!$B$2:$B$3</c:f>
              <c:numCache>
                <c:formatCode>0.00%</c:formatCode>
                <c:ptCount val="2"/>
                <c:pt idx="0">
                  <c:v>0.16880000000000001</c:v>
                </c:pt>
                <c:pt idx="1">
                  <c:v>0.83120000000000005</c:v>
                </c:pt>
              </c:numCache>
            </c:numRef>
          </c:val>
          <c:extLst>
            <c:ext xmlns:c16="http://schemas.microsoft.com/office/drawing/2014/chart" uri="{C3380CC4-5D6E-409C-BE32-E72D297353CC}">
              <c16:uniqueId val="{00000004-A48C-1E45-8368-0AA68F11A89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kumimoji="0" lang="en-US" sz="1400" b="0" i="0" u="none" strike="noStrike" kern="1200" cap="none" spc="0" normalizeH="0" baseline="0" noProof="0">
                <a:ln>
                  <a:noFill/>
                </a:ln>
                <a:solidFill>
                  <a:sysClr val="windowText" lastClr="000000">
                    <a:lumMod val="65000"/>
                    <a:lumOff val="35000"/>
                  </a:sysClr>
                </a:solidFill>
                <a:effectLst/>
                <a:uLnTx/>
                <a:uFillTx/>
                <a:latin typeface="Calibri" panose="020F0502020204030204"/>
              </a:rPr>
              <a:t>SALARY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Sheet1!$A$6:$A$8</c:f>
              <c:strCache>
                <c:ptCount val="3"/>
                <c:pt idx="0">
                  <c:v>mean</c:v>
                </c:pt>
                <c:pt idx="1">
                  <c:v>median</c:v>
                </c:pt>
                <c:pt idx="2">
                  <c:v>mode</c:v>
                </c:pt>
              </c:strCache>
            </c:strRef>
          </c:cat>
          <c:val>
            <c:numRef>
              <c:f>Sheet1!$B$6:$B$8</c:f>
              <c:numCache>
                <c:formatCode>"$"#,##0.00_);[Red]\("$"#,##0.00\)</c:formatCode>
                <c:ptCount val="3"/>
                <c:pt idx="0">
                  <c:v>34019.57</c:v>
                </c:pt>
                <c:pt idx="1">
                  <c:v>28875</c:v>
                </c:pt>
                <c:pt idx="2">
                  <c:v>27450</c:v>
                </c:pt>
              </c:numCache>
            </c:numRef>
          </c:val>
          <c:extLst>
            <c:ext xmlns:c16="http://schemas.microsoft.com/office/drawing/2014/chart" uri="{C3380CC4-5D6E-409C-BE32-E72D297353CC}">
              <c16:uniqueId val="{00000000-BA81-C14A-A5BE-E06A39F78F7E}"/>
            </c:ext>
          </c:extLst>
        </c:ser>
        <c:dLbls>
          <c:showLegendKey val="0"/>
          <c:showVal val="0"/>
          <c:showCatName val="0"/>
          <c:showSerName val="0"/>
          <c:showPercent val="0"/>
          <c:showBubbleSize val="0"/>
        </c:dLbls>
        <c:gapWidth val="219"/>
        <c:axId val="399241519"/>
        <c:axId val="399241087"/>
      </c:barChart>
      <c:valAx>
        <c:axId val="39924108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9241519"/>
        <c:crosses val="autoZero"/>
        <c:crossBetween val="between"/>
      </c:valAx>
      <c:catAx>
        <c:axId val="39924151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9241087"/>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SALARY MEAN FOR MALE AND FEMALE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Sheet1!$A$10:$A$11</c:f>
              <c:strCache>
                <c:ptCount val="2"/>
                <c:pt idx="0">
                  <c:v>male</c:v>
                </c:pt>
                <c:pt idx="1">
                  <c:v>female</c:v>
                </c:pt>
              </c:strCache>
            </c:strRef>
          </c:cat>
          <c:val>
            <c:numRef>
              <c:f>Sheet1!$B$10:$B$11</c:f>
              <c:numCache>
                <c:formatCode>"$"#,##0.00_);[Red]\("$"#,##0.00\)</c:formatCode>
                <c:ptCount val="2"/>
                <c:pt idx="0">
                  <c:v>37846.120000000003</c:v>
                </c:pt>
                <c:pt idx="1">
                  <c:v>26881.37</c:v>
                </c:pt>
              </c:numCache>
            </c:numRef>
          </c:val>
          <c:extLst>
            <c:ext xmlns:c16="http://schemas.microsoft.com/office/drawing/2014/chart" uri="{C3380CC4-5D6E-409C-BE32-E72D297353CC}">
              <c16:uniqueId val="{00000000-7DCA-1B4B-97A6-0DB451D4311E}"/>
            </c:ext>
          </c:extLst>
        </c:ser>
        <c:dLbls>
          <c:showLegendKey val="0"/>
          <c:showVal val="0"/>
          <c:showCatName val="0"/>
          <c:showSerName val="0"/>
          <c:showPercent val="0"/>
          <c:showBubbleSize val="0"/>
        </c:dLbls>
        <c:gapWidth val="219"/>
        <c:overlap val="-27"/>
        <c:axId val="1665789167"/>
        <c:axId val="398778799"/>
      </c:barChart>
      <c:catAx>
        <c:axId val="1665789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8778799"/>
        <c:crosses val="autoZero"/>
        <c:auto val="1"/>
        <c:lblAlgn val="ctr"/>
        <c:lblOffset val="100"/>
        <c:noMultiLvlLbl val="0"/>
      </c:catAx>
      <c:valAx>
        <c:axId val="398778799"/>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5789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FA132-59B5-73B5-1F4B-EAC5865B87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CEB42A-7C0F-6797-8657-EDA8A41541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AA0999-AD5B-C88E-B99C-4B52CC88FB0D}"/>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EB85FB9C-3814-3151-C931-D982EB245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9A5902-05ED-1B98-14FA-9F019B22B8BF}"/>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3097618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62C0-5F0E-CB13-0D43-A28ABDAE6C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E1DC-39D5-2036-BBC0-245DB1BC2F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469A8-B6F5-08B8-2CDA-0284BF4CFF59}"/>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6F4AD462-3376-6100-704F-E62D3D562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2ACDC-089A-9027-990B-31F67F92BEAC}"/>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2761003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880E-313D-9160-4550-D28BA64B1A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CD7347-4F0D-5341-33CD-550F75A138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D0E8D4-EA8F-002C-2CAD-9690237B39DF}"/>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81DD57C2-706A-3B38-6B67-83D03AFD3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1255B9-5EED-A07A-244C-AA3387A33E9C}"/>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2508277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91511-E9C7-E958-6C88-73E43643E6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264BEC-92D5-B2A4-671A-DFAE3CA9E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E0593F-81BF-C143-77FD-4EC34072FF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B888AA-C8A5-A8C1-1643-506D85FF62ED}"/>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6" name="Footer Placeholder 5">
            <a:extLst>
              <a:ext uri="{FF2B5EF4-FFF2-40B4-BE49-F238E27FC236}">
                <a16:creationId xmlns:a16="http://schemas.microsoft.com/office/drawing/2014/main" id="{4846B7EE-4B19-B698-98ED-83F57539E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8A4525-3413-3A92-D750-6AA8ABC90A5A}"/>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3126047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0AC19-483C-6DA2-F4AD-EADBFA1227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CA1A85-B55A-7443-E642-90D8FC5672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D87DB4-50F4-911F-1952-7F49BB11E8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F9B156-8CB0-C1FB-8540-6193270C4E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3C2553-BE55-62E7-5091-687ED9BC6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1E354A-4E36-FF9B-F8BD-34CD5536430F}"/>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8" name="Footer Placeholder 7">
            <a:extLst>
              <a:ext uri="{FF2B5EF4-FFF2-40B4-BE49-F238E27FC236}">
                <a16:creationId xmlns:a16="http://schemas.microsoft.com/office/drawing/2014/main" id="{EBAD4B55-614A-D5EB-F556-0F5AF7ECC8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75DE39-E78D-10E6-CDA5-A97F386ABA58}"/>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3149330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ED8A-268D-F901-CAF6-F3AB29417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7C00B7-9C5A-A514-B516-2D16B9FD6E41}"/>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4" name="Footer Placeholder 3">
            <a:extLst>
              <a:ext uri="{FF2B5EF4-FFF2-40B4-BE49-F238E27FC236}">
                <a16:creationId xmlns:a16="http://schemas.microsoft.com/office/drawing/2014/main" id="{0179278A-AECF-E4D0-AF83-327B1FCDB2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AA636D-EB4F-EBF0-DF3C-09F7058EEB9A}"/>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1451365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56A408-539C-6F14-5D58-5E604003ABB5}"/>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3" name="Footer Placeholder 2">
            <a:extLst>
              <a:ext uri="{FF2B5EF4-FFF2-40B4-BE49-F238E27FC236}">
                <a16:creationId xmlns:a16="http://schemas.microsoft.com/office/drawing/2014/main" id="{0EA8359E-EEA1-0372-F234-9A4E5BFC2A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46C8B6-AD7E-48E5-3247-31D2CD42A8E7}"/>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3800334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2809B-8913-3B17-F94D-EB19A55C6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8B9AD0-E9BE-9735-0459-106EA2361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D40F59-1EE9-B2F5-33F2-45503D4AF0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64D87-2D27-72EC-E1E6-5F5C2B304D22}"/>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6" name="Footer Placeholder 5">
            <a:extLst>
              <a:ext uri="{FF2B5EF4-FFF2-40B4-BE49-F238E27FC236}">
                <a16:creationId xmlns:a16="http://schemas.microsoft.com/office/drawing/2014/main" id="{C8C8048C-E282-05DE-8A38-E92C644C8A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E706AF-9AA8-9D71-7293-6B8146631B5B}"/>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1815675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0FB4-1D31-8935-BE06-FE2D69FC7B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6805C3-14F1-FAE6-0AF8-DE0938920B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0BECAA-BEDC-4AA7-5AA2-763109E17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8A9506-D54C-1207-C63D-1F5549779EF4}"/>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6" name="Footer Placeholder 5">
            <a:extLst>
              <a:ext uri="{FF2B5EF4-FFF2-40B4-BE49-F238E27FC236}">
                <a16:creationId xmlns:a16="http://schemas.microsoft.com/office/drawing/2014/main" id="{790E030A-EF31-24F1-120D-F62EA14C6E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2F47D-CB45-C7DF-70C6-EBDC9BDC10E7}"/>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2309903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0258-F57F-AB9C-ED34-C387E2A5E1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F4D2A-0BA0-AC70-87B9-381C184C6C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2B15D6-6B2D-4B32-B2F8-94AB83B73B7C}"/>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BD5A79B9-8C41-345F-69A6-F7C3ABF13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DBECE-8479-A052-C6C5-6EB7B415CB57}"/>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198823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A8892A-E80E-174E-665A-F323E099D5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F4C8B7-831A-AC68-F992-B2C57DAC2B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6111E-F632-4F23-8BC6-D1E655B61FB8}"/>
              </a:ext>
            </a:extLst>
          </p:cNvPr>
          <p:cNvSpPr>
            <a:spLocks noGrp="1"/>
          </p:cNvSpPr>
          <p:nvPr>
            <p:ph type="dt" sz="half" idx="10"/>
          </p:nvPr>
        </p:nvSpPr>
        <p:spPr/>
        <p:txBody>
          <a:body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6F900909-4F54-E8D0-75E3-C73D530242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F69C4-5854-52CE-6C15-8D7D5F65752A}"/>
              </a:ext>
            </a:extLst>
          </p:cNvPr>
          <p:cNvSpPr>
            <a:spLocks noGrp="1"/>
          </p:cNvSpPr>
          <p:nvPr>
            <p:ph type="sldNum" sz="quarter" idx="12"/>
          </p:nvPr>
        </p:nvSpPr>
        <p:spPr/>
        <p:txBody>
          <a:bodyPr/>
          <a:lstStyle/>
          <a:p>
            <a:fld id="{3AFAE3E0-3F66-7E49-BB6B-6EA20D3BCB7C}" type="slidenum">
              <a:rPr lang="en-US" smtClean="0"/>
              <a:t>‹#›</a:t>
            </a:fld>
            <a:endParaRPr lang="en-US"/>
          </a:p>
        </p:txBody>
      </p:sp>
    </p:spTree>
    <p:extLst>
      <p:ext uri="{BB962C8B-B14F-4D97-AF65-F5344CB8AC3E}">
        <p14:creationId xmlns:p14="http://schemas.microsoft.com/office/powerpoint/2010/main" val="2041508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04368-3B4B-AA93-911D-40E76FDBC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13AD32-F5AC-9914-BDE0-3188BBF92E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07695-866D-DC61-94D1-91BFE90231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BB01E-1B2B-AC4A-B1FC-6718B2A657AC}" type="datetimeFigureOut">
              <a:rPr lang="en-US" smtClean="0"/>
              <a:t>7/23/25</a:t>
            </a:fld>
            <a:endParaRPr lang="en-US"/>
          </a:p>
        </p:txBody>
      </p:sp>
      <p:sp>
        <p:nvSpPr>
          <p:cNvPr id="5" name="Footer Placeholder 4">
            <a:extLst>
              <a:ext uri="{FF2B5EF4-FFF2-40B4-BE49-F238E27FC236}">
                <a16:creationId xmlns:a16="http://schemas.microsoft.com/office/drawing/2014/main" id="{1CEFC08D-AA7F-9990-DE10-5A7FCA71F6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38DCB3-AF79-8014-82EE-E5D33B819C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AE3E0-3F66-7E49-BB6B-6EA20D3BCB7C}" type="slidenum">
              <a:rPr lang="en-US" smtClean="0"/>
              <a:t>‹#›</a:t>
            </a:fld>
            <a:endParaRPr lang="en-US"/>
          </a:p>
        </p:txBody>
      </p:sp>
    </p:spTree>
    <p:extLst>
      <p:ext uri="{BB962C8B-B14F-4D97-AF65-F5344CB8AC3E}">
        <p14:creationId xmlns:p14="http://schemas.microsoft.com/office/powerpoint/2010/main" val="406381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1828F-89D0-782E-E220-FACAEBE2C786}"/>
              </a:ext>
            </a:extLst>
          </p:cNvPr>
          <p:cNvSpPr>
            <a:spLocks noGrp="1"/>
          </p:cNvSpPr>
          <p:nvPr>
            <p:ph type="ctrTitle"/>
          </p:nvPr>
        </p:nvSpPr>
        <p:spPr/>
        <p:txBody>
          <a:bodyPr>
            <a:normAutofit/>
          </a:bodyPr>
          <a:lstStyle/>
          <a:p>
            <a:r>
              <a:rPr lang="en-US" sz="3600" b="1" dirty="0">
                <a:latin typeface="Times New Roman" panose="02020603050405020304" pitchFamily="18" charset="0"/>
                <a:cs typeface="Times New Roman" panose="02020603050405020304" pitchFamily="18" charset="0"/>
              </a:rPr>
              <a:t>Employee Income Levels &amp; Fair Labor Practices: A Data Analysis Report</a:t>
            </a:r>
          </a:p>
        </p:txBody>
      </p:sp>
      <p:sp>
        <p:nvSpPr>
          <p:cNvPr id="3" name="Subtitle 2">
            <a:extLst>
              <a:ext uri="{FF2B5EF4-FFF2-40B4-BE49-F238E27FC236}">
                <a16:creationId xmlns:a16="http://schemas.microsoft.com/office/drawing/2014/main" id="{9611B942-CFEA-7174-D670-5CB510457082}"/>
              </a:ext>
            </a:extLst>
          </p:cNvPr>
          <p:cNvSpPr>
            <a:spLocks noGrp="1"/>
          </p:cNvSpPr>
          <p:nvPr>
            <p:ph type="subTitle" idx="1"/>
          </p:nvPr>
        </p:nvSpPr>
        <p:spPr/>
        <p:txBody>
          <a:bodyPr/>
          <a:lstStyle/>
          <a:p>
            <a:r>
              <a:rPr lang="en-US" b="1" dirty="0">
                <a:latin typeface="Times New Roman" panose="02020603050405020304" pitchFamily="18" charset="0"/>
                <a:cs typeface="Times New Roman" panose="02020603050405020304" pitchFamily="18" charset="0"/>
              </a:rPr>
              <a:t>Prepared for:</a:t>
            </a:r>
            <a:r>
              <a:rPr lang="en-US" dirty="0">
                <a:latin typeface="Times New Roman" panose="02020603050405020304" pitchFamily="18" charset="0"/>
                <a:cs typeface="Times New Roman" panose="02020603050405020304" pitchFamily="18" charset="0"/>
              </a:rPr>
              <a:t> HR Manager </a:t>
            </a:r>
          </a:p>
          <a:p>
            <a:r>
              <a:rPr lang="en-US" b="1" dirty="0">
                <a:latin typeface="Times New Roman" panose="02020603050405020304" pitchFamily="18" charset="0"/>
                <a:cs typeface="Times New Roman" panose="02020603050405020304" pitchFamily="18" charset="0"/>
              </a:rPr>
              <a:t>Prepared by:</a:t>
            </a:r>
            <a:r>
              <a:rPr lang="en-US" dirty="0">
                <a:latin typeface="Times New Roman" panose="02020603050405020304" pitchFamily="18" charset="0"/>
                <a:cs typeface="Times New Roman" panose="02020603050405020304" pitchFamily="18" charset="0"/>
              </a:rPr>
              <a:t> Ibrahim Richard (Business Analyst) </a:t>
            </a:r>
          </a:p>
          <a:p>
            <a:r>
              <a:rPr lang="en-US" b="1" dirty="0">
                <a:latin typeface="Times New Roman" panose="02020603050405020304" pitchFamily="18" charset="0"/>
                <a:cs typeface="Times New Roman" panose="02020603050405020304" pitchFamily="18" charset="0"/>
              </a:rPr>
              <a:t>Date:</a:t>
            </a:r>
            <a:r>
              <a:rPr lang="en-US" dirty="0">
                <a:latin typeface="Times New Roman" panose="02020603050405020304" pitchFamily="18" charset="0"/>
                <a:cs typeface="Times New Roman" panose="02020603050405020304" pitchFamily="18" charset="0"/>
              </a:rPr>
              <a:t> July 21, 2025.</a:t>
            </a:r>
          </a:p>
        </p:txBody>
      </p:sp>
    </p:spTree>
    <p:extLst>
      <p:ext uri="{BB962C8B-B14F-4D97-AF65-F5344CB8AC3E}">
        <p14:creationId xmlns:p14="http://schemas.microsoft.com/office/powerpoint/2010/main" val="724339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7333D-D950-64D4-90F5-373DBFD7B3D3}"/>
              </a:ext>
            </a:extLst>
          </p:cNvPr>
          <p:cNvSpPr>
            <a:spLocks noGrp="1"/>
          </p:cNvSpPr>
          <p:nvPr>
            <p:ph type="title"/>
          </p:nvPr>
        </p:nvSpPr>
        <p:spPr>
          <a:xfrm>
            <a:off x="838200" y="1342016"/>
            <a:ext cx="10515600" cy="1512077"/>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Introduction – Our Commitment to Fair Labor Practices</a:t>
            </a:r>
            <a:br>
              <a:rPr lang="en-US" b="1" dirty="0"/>
            </a:br>
            <a:endParaRPr lang="en-US" dirty="0"/>
          </a:p>
        </p:txBody>
      </p:sp>
      <p:sp>
        <p:nvSpPr>
          <p:cNvPr id="3" name="Content Placeholder 2">
            <a:extLst>
              <a:ext uri="{FF2B5EF4-FFF2-40B4-BE49-F238E27FC236}">
                <a16:creationId xmlns:a16="http://schemas.microsoft.com/office/drawing/2014/main" id="{3E3F9192-C558-68AF-ABD3-86EE35399F51}"/>
              </a:ext>
            </a:extLst>
          </p:cNvPr>
          <p:cNvSpPr>
            <a:spLocks noGrp="1"/>
          </p:cNvSpPr>
          <p:nvPr>
            <p:ph idx="1"/>
          </p:nvPr>
        </p:nvSpPr>
        <p:spPr>
          <a:xfrm>
            <a:off x="838200" y="2854093"/>
            <a:ext cx="10515600" cy="1684837"/>
          </a:xfrm>
        </p:spPr>
        <p:txBody>
          <a:bodyPr>
            <a:noAutofit/>
          </a:bodyPr>
          <a:lstStyle/>
          <a:p>
            <a:pPr marL="0" indent="0" algn="ctr">
              <a:buNone/>
            </a:pPr>
            <a:r>
              <a:rPr lang="en-US" dirty="0">
                <a:latin typeface="Times New Roman" panose="02020603050405020304" pitchFamily="18" charset="0"/>
                <a:cs typeface="Times New Roman" panose="02020603050405020304" pitchFamily="18" charset="0"/>
              </a:rPr>
              <a:t>Good Day. This report summarizes key demographic and income data for our 474 employees. Understanding this data is crucial to ensuring we maintain compliance with fair labor practices within the furniture manufacturing industry and to support our strategic objective of fair compensation.</a:t>
            </a:r>
          </a:p>
          <a:p>
            <a:endParaRPr lang="en-US" dirty="0"/>
          </a:p>
        </p:txBody>
      </p:sp>
    </p:spTree>
    <p:extLst>
      <p:ext uri="{BB962C8B-B14F-4D97-AF65-F5344CB8AC3E}">
        <p14:creationId xmlns:p14="http://schemas.microsoft.com/office/powerpoint/2010/main" val="128325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0A6E-A2BF-832F-021F-97D86723C106}"/>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Employee Demographic Profile – Gender Distribution</a:t>
            </a:r>
          </a:p>
        </p:txBody>
      </p:sp>
      <p:sp>
        <p:nvSpPr>
          <p:cNvPr id="3" name="Content Placeholder 2">
            <a:extLst>
              <a:ext uri="{FF2B5EF4-FFF2-40B4-BE49-F238E27FC236}">
                <a16:creationId xmlns:a16="http://schemas.microsoft.com/office/drawing/2014/main" id="{9B192B33-2FD7-976C-9576-F2E466ACD89D}"/>
              </a:ext>
            </a:extLst>
          </p:cNvPr>
          <p:cNvSpPr>
            <a:spLocks noGrp="1"/>
          </p:cNvSpPr>
          <p:nvPr>
            <p:ph idx="1"/>
          </p:nvPr>
        </p:nvSpPr>
        <p:spPr>
          <a:xfrm>
            <a:off x="838199" y="1825625"/>
            <a:ext cx="10666615" cy="3596229"/>
          </a:xfrm>
        </p:spPr>
        <p:txBody>
          <a:bodyPr>
            <a:normAutofit/>
          </a:bodyPr>
          <a:lstStyle/>
          <a:p>
            <a:r>
              <a:rPr lang="en-US" dirty="0">
                <a:latin typeface="Times New Roman" panose="02020603050405020304" pitchFamily="18" charset="0"/>
                <a:cs typeface="Times New Roman" panose="02020603050405020304" pitchFamily="18" charset="0"/>
              </a:rPr>
              <a:t>Understanding our workforce composition is the first step.</a:t>
            </a:r>
          </a:p>
          <a:p>
            <a:r>
              <a:rPr lang="en-US" b="1" dirty="0">
                <a:latin typeface="Times New Roman" panose="02020603050405020304" pitchFamily="18" charset="0"/>
                <a:cs typeface="Times New Roman" panose="02020603050405020304" pitchFamily="18" charset="0"/>
              </a:rPr>
              <a:t>Total Employees:</a:t>
            </a:r>
            <a:r>
              <a:rPr lang="en-US" dirty="0">
                <a:latin typeface="Times New Roman" panose="02020603050405020304" pitchFamily="18" charset="0"/>
                <a:cs typeface="Times New Roman" panose="02020603050405020304" pitchFamily="18" charset="0"/>
              </a:rPr>
              <a:t> 474</a:t>
            </a:r>
          </a:p>
          <a:p>
            <a:r>
              <a:rPr lang="en-US" b="1" dirty="0">
                <a:latin typeface="Times New Roman" panose="02020603050405020304" pitchFamily="18" charset="0"/>
                <a:cs typeface="Times New Roman" panose="02020603050405020304" pitchFamily="18" charset="0"/>
              </a:rPr>
              <a:t>Male Employees:</a:t>
            </a:r>
            <a:r>
              <a:rPr lang="en-US" dirty="0">
                <a:latin typeface="Times New Roman" panose="02020603050405020304" pitchFamily="18" charset="0"/>
                <a:cs typeface="Times New Roman" panose="02020603050405020304" pitchFamily="18" charset="0"/>
              </a:rPr>
              <a:t> 258</a:t>
            </a:r>
          </a:p>
          <a:p>
            <a:r>
              <a:rPr lang="en-US" b="1" dirty="0">
                <a:latin typeface="Times New Roman" panose="02020603050405020304" pitchFamily="18" charset="0"/>
                <a:cs typeface="Times New Roman" panose="02020603050405020304" pitchFamily="18" charset="0"/>
              </a:rPr>
              <a:t>Female Employees:</a:t>
            </a:r>
            <a:r>
              <a:rPr lang="en-US" dirty="0">
                <a:latin typeface="Times New Roman" panose="02020603050405020304" pitchFamily="18" charset="0"/>
                <a:cs typeface="Times New Roman" panose="02020603050405020304" pitchFamily="18" charset="0"/>
              </a:rPr>
              <a:t> 216</a:t>
            </a:r>
          </a:p>
          <a:p>
            <a:r>
              <a:rPr lang="en-US" b="1" dirty="0">
                <a:latin typeface="Times New Roman" panose="02020603050405020304" pitchFamily="18" charset="0"/>
                <a:cs typeface="Times New Roman" panose="02020603050405020304" pitchFamily="18" charset="0"/>
              </a:rPr>
              <a:t>Gender Distribution: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Male:</a:t>
            </a:r>
            <a:r>
              <a:rPr lang="en-US" dirty="0">
                <a:latin typeface="Times New Roman" panose="02020603050405020304" pitchFamily="18" charset="0"/>
                <a:cs typeface="Times New Roman" panose="02020603050405020304" pitchFamily="18" charset="0"/>
              </a:rPr>
              <a:t> 474258 ​= 54.43%</a:t>
            </a:r>
          </a:p>
          <a:p>
            <a:r>
              <a:rPr lang="en-US" b="1" dirty="0">
                <a:latin typeface="Times New Roman" panose="02020603050405020304" pitchFamily="18" charset="0"/>
                <a:cs typeface="Times New Roman" panose="02020603050405020304" pitchFamily="18" charset="0"/>
              </a:rPr>
              <a:t>Female:</a:t>
            </a:r>
            <a:r>
              <a:rPr lang="en-US" dirty="0">
                <a:latin typeface="Times New Roman" panose="02020603050405020304" pitchFamily="18" charset="0"/>
                <a:cs typeface="Times New Roman" panose="02020603050405020304" pitchFamily="18" charset="0"/>
              </a:rPr>
              <a:t> 474216​ = 45.57%</a:t>
            </a:r>
          </a:p>
        </p:txBody>
      </p:sp>
      <p:graphicFrame>
        <p:nvGraphicFramePr>
          <p:cNvPr id="5" name="Content Placeholder 8">
            <a:extLst>
              <a:ext uri="{FF2B5EF4-FFF2-40B4-BE49-F238E27FC236}">
                <a16:creationId xmlns:a16="http://schemas.microsoft.com/office/drawing/2014/main" id="{4CDD064C-457B-A8E8-B354-FAC1B4F46DFE}"/>
              </a:ext>
            </a:extLst>
          </p:cNvPr>
          <p:cNvGraphicFramePr>
            <a:graphicFrameLocks/>
          </p:cNvGraphicFramePr>
          <p:nvPr>
            <p:extLst>
              <p:ext uri="{D42A27DB-BD31-4B8C-83A1-F6EECF244321}">
                <p14:modId xmlns:p14="http://schemas.microsoft.com/office/powerpoint/2010/main" val="3387787407"/>
              </p:ext>
            </p:extLst>
          </p:nvPr>
        </p:nvGraphicFramePr>
        <p:xfrm>
          <a:off x="5142807" y="2039861"/>
          <a:ext cx="6210993" cy="316775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6116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65A0-2B51-3046-DEDB-494EBC6B92A5}"/>
              </a:ext>
            </a:extLst>
          </p:cNvPr>
          <p:cNvSpPr>
            <a:spLocks noGrp="1"/>
          </p:cNvSpPr>
          <p:nvPr>
            <p:ph type="title"/>
          </p:nvPr>
        </p:nvSpPr>
        <p:spPr>
          <a:xfrm>
            <a:off x="838200" y="169235"/>
            <a:ext cx="10515600" cy="111346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Employee Demographic Profile – Education Levels</a:t>
            </a:r>
          </a:p>
        </p:txBody>
      </p:sp>
      <p:sp>
        <p:nvSpPr>
          <p:cNvPr id="11" name="Content Placeholder 10">
            <a:extLst>
              <a:ext uri="{FF2B5EF4-FFF2-40B4-BE49-F238E27FC236}">
                <a16:creationId xmlns:a16="http://schemas.microsoft.com/office/drawing/2014/main" id="{52B4CC01-3C34-8873-E445-5D1D4FC72E97}"/>
              </a:ext>
            </a:extLst>
          </p:cNvPr>
          <p:cNvSpPr>
            <a:spLocks noGrp="1"/>
          </p:cNvSpPr>
          <p:nvPr>
            <p:ph idx="1"/>
          </p:nvPr>
        </p:nvSpPr>
        <p:spPr>
          <a:xfrm>
            <a:off x="838199" y="1383322"/>
            <a:ext cx="11082251" cy="5474677"/>
          </a:xfrm>
        </p:spPr>
        <p:txBody>
          <a:bodyPr/>
          <a:lstStyle/>
          <a:p>
            <a:r>
              <a:rPr lang="en-US" sz="2400" dirty="0">
                <a:latin typeface="Times New Roman" panose="02020603050405020304" pitchFamily="18" charset="0"/>
                <a:cs typeface="Times New Roman" panose="02020603050405020304" pitchFamily="18" charset="0"/>
              </a:rPr>
              <a:t>Education levels across our workforce provide insights into our human capital. The 'educ' column represents years of education.</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CC296058-3867-70CB-9404-8CB81B31E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377" y="2647567"/>
            <a:ext cx="4314073" cy="30837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12">
            <a:extLst>
              <a:ext uri="{FF2B5EF4-FFF2-40B4-BE49-F238E27FC236}">
                <a16:creationId xmlns:a16="http://schemas.microsoft.com/office/drawing/2014/main" id="{0E829980-C624-EC9C-E85A-44031D258E0A}"/>
              </a:ext>
            </a:extLst>
          </p:cNvPr>
          <p:cNvGraphicFramePr>
            <a:graphicFrameLocks noGrp="1"/>
          </p:cNvGraphicFramePr>
          <p:nvPr>
            <p:extLst>
              <p:ext uri="{D42A27DB-BD31-4B8C-83A1-F6EECF244321}">
                <p14:modId xmlns:p14="http://schemas.microsoft.com/office/powerpoint/2010/main" val="3944984349"/>
              </p:ext>
            </p:extLst>
          </p:nvPr>
        </p:nvGraphicFramePr>
        <p:xfrm>
          <a:off x="1076735" y="2299645"/>
          <a:ext cx="6529641" cy="4389120"/>
        </p:xfrm>
        <a:graphic>
          <a:graphicData uri="http://schemas.openxmlformats.org/drawingml/2006/table">
            <a:tbl>
              <a:tblPr firstRow="1" bandRow="1" bandCol="1">
                <a:tableStyleId>{073A0DAA-6AF3-43AB-8588-CEC1D06C72B9}</a:tableStyleId>
              </a:tblPr>
              <a:tblGrid>
                <a:gridCol w="2176547">
                  <a:extLst>
                    <a:ext uri="{9D8B030D-6E8A-4147-A177-3AD203B41FA5}">
                      <a16:colId xmlns:a16="http://schemas.microsoft.com/office/drawing/2014/main" val="266603501"/>
                    </a:ext>
                  </a:extLst>
                </a:gridCol>
                <a:gridCol w="2176547">
                  <a:extLst>
                    <a:ext uri="{9D8B030D-6E8A-4147-A177-3AD203B41FA5}">
                      <a16:colId xmlns:a16="http://schemas.microsoft.com/office/drawing/2014/main" val="1005168366"/>
                    </a:ext>
                  </a:extLst>
                </a:gridCol>
                <a:gridCol w="2176547">
                  <a:extLst>
                    <a:ext uri="{9D8B030D-6E8A-4147-A177-3AD203B41FA5}">
                      <a16:colId xmlns:a16="http://schemas.microsoft.com/office/drawing/2014/main" val="1037636168"/>
                    </a:ext>
                  </a:extLst>
                </a:gridCol>
              </a:tblGrid>
              <a:tr h="186050">
                <a:tc>
                  <a:txBody>
                    <a:bodyPr/>
                    <a:lstStyle/>
                    <a:p>
                      <a:pPr algn="ctr"/>
                      <a:r>
                        <a:rPr lang="en-US" dirty="0"/>
                        <a:t>Year Of Education</a:t>
                      </a:r>
                    </a:p>
                  </a:txBody>
                  <a:tcPr/>
                </a:tc>
                <a:tc>
                  <a:txBody>
                    <a:bodyPr/>
                    <a:lstStyle/>
                    <a:p>
                      <a:pPr algn="ctr"/>
                      <a:r>
                        <a:rPr lang="en-US" dirty="0"/>
                        <a:t>Count</a:t>
                      </a:r>
                    </a:p>
                  </a:txBody>
                  <a:tcPr/>
                </a:tc>
                <a:tc>
                  <a:txBody>
                    <a:bodyPr/>
                    <a:lstStyle/>
                    <a:p>
                      <a:pPr algn="ctr"/>
                      <a:r>
                        <a:rPr lang="en-US" dirty="0"/>
                        <a:t>Percentage</a:t>
                      </a:r>
                    </a:p>
                  </a:txBody>
                  <a:tcPr/>
                </a:tc>
                <a:extLst>
                  <a:ext uri="{0D108BD9-81ED-4DB2-BD59-A6C34878D82A}">
                    <a16:rowId xmlns:a16="http://schemas.microsoft.com/office/drawing/2014/main" val="416964921"/>
                  </a:ext>
                </a:extLst>
              </a:tr>
              <a:tr h="186050">
                <a:tc>
                  <a:txBody>
                    <a:bodyPr/>
                    <a:lstStyle/>
                    <a:p>
                      <a:pPr algn="ctr"/>
                      <a:r>
                        <a:rPr lang="en-US" dirty="0"/>
                        <a:t>8</a:t>
                      </a:r>
                    </a:p>
                  </a:txBody>
                  <a:tcPr/>
                </a:tc>
                <a:tc>
                  <a:txBody>
                    <a:bodyPr/>
                    <a:lstStyle/>
                    <a:p>
                      <a:pPr algn="ctr"/>
                      <a:r>
                        <a:rPr lang="en-US" dirty="0"/>
                        <a:t>63</a:t>
                      </a:r>
                    </a:p>
                  </a:txBody>
                  <a:tcPr/>
                </a:tc>
                <a:tc>
                  <a:txBody>
                    <a:bodyPr/>
                    <a:lstStyle/>
                    <a:p>
                      <a:pPr algn="ctr"/>
                      <a:r>
                        <a:rPr lang="en-US" sz="1800" b="0" i="0" u="none" strike="noStrike" kern="1200" dirty="0">
                          <a:solidFill>
                            <a:schemeClr val="dk1"/>
                          </a:solidFill>
                          <a:effectLst/>
                          <a:latin typeface="+mn-lt"/>
                          <a:ea typeface="+mn-ea"/>
                          <a:cs typeface="+mn-cs"/>
                        </a:rPr>
                        <a:t>13.29%</a:t>
                      </a:r>
                      <a:endParaRPr lang="en-US" dirty="0"/>
                    </a:p>
                  </a:txBody>
                  <a:tcPr/>
                </a:tc>
                <a:extLst>
                  <a:ext uri="{0D108BD9-81ED-4DB2-BD59-A6C34878D82A}">
                    <a16:rowId xmlns:a16="http://schemas.microsoft.com/office/drawing/2014/main" val="3585632333"/>
                  </a:ext>
                </a:extLst>
              </a:tr>
              <a:tr h="186050">
                <a:tc>
                  <a:txBody>
                    <a:bodyPr/>
                    <a:lstStyle/>
                    <a:p>
                      <a:pPr algn="ctr"/>
                      <a:r>
                        <a:rPr lang="en-US" dirty="0"/>
                        <a:t>12</a:t>
                      </a:r>
                    </a:p>
                  </a:txBody>
                  <a:tcPr/>
                </a:tc>
                <a:tc>
                  <a:txBody>
                    <a:bodyPr/>
                    <a:lstStyle/>
                    <a:p>
                      <a:pPr algn="ctr"/>
                      <a:r>
                        <a:rPr lang="en-US" dirty="0"/>
                        <a:t>167</a:t>
                      </a:r>
                    </a:p>
                  </a:txBody>
                  <a:tcPr/>
                </a:tc>
                <a:tc>
                  <a:txBody>
                    <a:bodyPr/>
                    <a:lstStyle/>
                    <a:p>
                      <a:pPr algn="ctr"/>
                      <a:r>
                        <a:rPr lang="en-US" dirty="0"/>
                        <a:t>35.23%</a:t>
                      </a:r>
                    </a:p>
                  </a:txBody>
                  <a:tcPr/>
                </a:tc>
                <a:extLst>
                  <a:ext uri="{0D108BD9-81ED-4DB2-BD59-A6C34878D82A}">
                    <a16:rowId xmlns:a16="http://schemas.microsoft.com/office/drawing/2014/main" val="1699626378"/>
                  </a:ext>
                </a:extLst>
              </a:tr>
              <a:tr h="186050">
                <a:tc>
                  <a:txBody>
                    <a:bodyPr/>
                    <a:lstStyle/>
                    <a:p>
                      <a:pPr algn="ctr"/>
                      <a:r>
                        <a:rPr lang="en-US" dirty="0"/>
                        <a:t>14</a:t>
                      </a:r>
                    </a:p>
                  </a:txBody>
                  <a:tcPr/>
                </a:tc>
                <a:tc>
                  <a:txBody>
                    <a:bodyPr/>
                    <a:lstStyle/>
                    <a:p>
                      <a:pPr algn="ctr"/>
                      <a:r>
                        <a:rPr lang="en-US" dirty="0"/>
                        <a:t>6</a:t>
                      </a:r>
                    </a:p>
                  </a:txBody>
                  <a:tcPr/>
                </a:tc>
                <a:tc>
                  <a:txBody>
                    <a:bodyPr/>
                    <a:lstStyle/>
                    <a:p>
                      <a:pPr algn="ctr"/>
                      <a:r>
                        <a:rPr lang="en-US" dirty="0"/>
                        <a:t>1.27%</a:t>
                      </a:r>
                    </a:p>
                  </a:txBody>
                  <a:tcPr/>
                </a:tc>
                <a:extLst>
                  <a:ext uri="{0D108BD9-81ED-4DB2-BD59-A6C34878D82A}">
                    <a16:rowId xmlns:a16="http://schemas.microsoft.com/office/drawing/2014/main" val="444597705"/>
                  </a:ext>
                </a:extLst>
              </a:tr>
              <a:tr h="186050">
                <a:tc>
                  <a:txBody>
                    <a:bodyPr/>
                    <a:lstStyle/>
                    <a:p>
                      <a:pPr algn="ctr"/>
                      <a:r>
                        <a:rPr lang="en-US" dirty="0"/>
                        <a:t>15</a:t>
                      </a:r>
                    </a:p>
                  </a:txBody>
                  <a:tcPr/>
                </a:tc>
                <a:tc>
                  <a:txBody>
                    <a:bodyPr/>
                    <a:lstStyle/>
                    <a:p>
                      <a:pPr algn="ctr"/>
                      <a:r>
                        <a:rPr lang="en-US" dirty="0"/>
                        <a:t>104</a:t>
                      </a:r>
                    </a:p>
                  </a:txBody>
                  <a:tcPr/>
                </a:tc>
                <a:tc>
                  <a:txBody>
                    <a:bodyPr/>
                    <a:lstStyle/>
                    <a:p>
                      <a:pPr algn="ctr"/>
                      <a:r>
                        <a:rPr lang="en-US" dirty="0"/>
                        <a:t>21.94%</a:t>
                      </a:r>
                    </a:p>
                  </a:txBody>
                  <a:tcPr/>
                </a:tc>
                <a:extLst>
                  <a:ext uri="{0D108BD9-81ED-4DB2-BD59-A6C34878D82A}">
                    <a16:rowId xmlns:a16="http://schemas.microsoft.com/office/drawing/2014/main" val="2796333121"/>
                  </a:ext>
                </a:extLst>
              </a:tr>
              <a:tr h="186050">
                <a:tc>
                  <a:txBody>
                    <a:bodyPr/>
                    <a:lstStyle/>
                    <a:p>
                      <a:pPr algn="ctr"/>
                      <a:r>
                        <a:rPr lang="en-US" dirty="0"/>
                        <a:t>16</a:t>
                      </a:r>
                    </a:p>
                  </a:txBody>
                  <a:tcPr/>
                </a:tc>
                <a:tc>
                  <a:txBody>
                    <a:bodyPr/>
                    <a:lstStyle/>
                    <a:p>
                      <a:pPr algn="ctr"/>
                      <a:r>
                        <a:rPr lang="en-US" dirty="0"/>
                        <a:t>79</a:t>
                      </a:r>
                    </a:p>
                  </a:txBody>
                  <a:tcPr/>
                </a:tc>
                <a:tc>
                  <a:txBody>
                    <a:bodyPr/>
                    <a:lstStyle/>
                    <a:p>
                      <a:pPr algn="ctr"/>
                      <a:r>
                        <a:rPr lang="en-US" dirty="0"/>
                        <a:t>16.67%</a:t>
                      </a:r>
                    </a:p>
                  </a:txBody>
                  <a:tcPr/>
                </a:tc>
                <a:extLst>
                  <a:ext uri="{0D108BD9-81ED-4DB2-BD59-A6C34878D82A}">
                    <a16:rowId xmlns:a16="http://schemas.microsoft.com/office/drawing/2014/main" val="724493007"/>
                  </a:ext>
                </a:extLst>
              </a:tr>
              <a:tr h="186050">
                <a:tc>
                  <a:txBody>
                    <a:bodyPr/>
                    <a:lstStyle/>
                    <a:p>
                      <a:pPr algn="ctr"/>
                      <a:r>
                        <a:rPr lang="en-US" dirty="0"/>
                        <a:t>17</a:t>
                      </a:r>
                    </a:p>
                  </a:txBody>
                  <a:tcPr/>
                </a:tc>
                <a:tc>
                  <a:txBody>
                    <a:bodyPr/>
                    <a:lstStyle/>
                    <a:p>
                      <a:pPr algn="ctr"/>
                      <a:r>
                        <a:rPr lang="en-US" dirty="0"/>
                        <a:t>12</a:t>
                      </a:r>
                    </a:p>
                  </a:txBody>
                  <a:tcPr/>
                </a:tc>
                <a:tc>
                  <a:txBody>
                    <a:bodyPr/>
                    <a:lstStyle/>
                    <a:p>
                      <a:pPr algn="ctr"/>
                      <a:r>
                        <a:rPr lang="en-US" dirty="0"/>
                        <a:t>2.53%</a:t>
                      </a:r>
                    </a:p>
                  </a:txBody>
                  <a:tcPr/>
                </a:tc>
                <a:extLst>
                  <a:ext uri="{0D108BD9-81ED-4DB2-BD59-A6C34878D82A}">
                    <a16:rowId xmlns:a16="http://schemas.microsoft.com/office/drawing/2014/main" val="2326584757"/>
                  </a:ext>
                </a:extLst>
              </a:tr>
              <a:tr h="186050">
                <a:tc>
                  <a:txBody>
                    <a:bodyPr/>
                    <a:lstStyle/>
                    <a:p>
                      <a:pPr algn="ctr"/>
                      <a:r>
                        <a:rPr lang="en-US" dirty="0"/>
                        <a:t>18</a:t>
                      </a:r>
                    </a:p>
                  </a:txBody>
                  <a:tcPr/>
                </a:tc>
                <a:tc>
                  <a:txBody>
                    <a:bodyPr/>
                    <a:lstStyle/>
                    <a:p>
                      <a:pPr algn="ctr"/>
                      <a:r>
                        <a:rPr lang="en-US" dirty="0"/>
                        <a:t>10</a:t>
                      </a:r>
                    </a:p>
                  </a:txBody>
                  <a:tcPr/>
                </a:tc>
                <a:tc>
                  <a:txBody>
                    <a:bodyPr/>
                    <a:lstStyle/>
                    <a:p>
                      <a:pPr algn="ctr"/>
                      <a:r>
                        <a:rPr lang="en-US" dirty="0"/>
                        <a:t>2.11%</a:t>
                      </a:r>
                    </a:p>
                  </a:txBody>
                  <a:tcPr/>
                </a:tc>
                <a:extLst>
                  <a:ext uri="{0D108BD9-81ED-4DB2-BD59-A6C34878D82A}">
                    <a16:rowId xmlns:a16="http://schemas.microsoft.com/office/drawing/2014/main" val="371570340"/>
                  </a:ext>
                </a:extLst>
              </a:tr>
              <a:tr h="186050">
                <a:tc>
                  <a:txBody>
                    <a:bodyPr/>
                    <a:lstStyle/>
                    <a:p>
                      <a:pPr algn="ctr"/>
                      <a:r>
                        <a:rPr lang="en-US" dirty="0"/>
                        <a:t>19</a:t>
                      </a:r>
                    </a:p>
                  </a:txBody>
                  <a:tcPr/>
                </a:tc>
                <a:tc>
                  <a:txBody>
                    <a:bodyPr/>
                    <a:lstStyle/>
                    <a:p>
                      <a:pPr algn="ctr"/>
                      <a:r>
                        <a:rPr lang="en-US" dirty="0"/>
                        <a:t>32</a:t>
                      </a:r>
                    </a:p>
                  </a:txBody>
                  <a:tcPr/>
                </a:tc>
                <a:tc>
                  <a:txBody>
                    <a:bodyPr/>
                    <a:lstStyle/>
                    <a:p>
                      <a:pPr algn="ctr"/>
                      <a:r>
                        <a:rPr lang="en-US" dirty="0"/>
                        <a:t>6.75%</a:t>
                      </a:r>
                    </a:p>
                  </a:txBody>
                  <a:tcPr/>
                </a:tc>
                <a:extLst>
                  <a:ext uri="{0D108BD9-81ED-4DB2-BD59-A6C34878D82A}">
                    <a16:rowId xmlns:a16="http://schemas.microsoft.com/office/drawing/2014/main" val="1809087291"/>
                  </a:ext>
                </a:extLst>
              </a:tr>
              <a:tr h="186050">
                <a:tc>
                  <a:txBody>
                    <a:bodyPr/>
                    <a:lstStyle/>
                    <a:p>
                      <a:pPr algn="ctr"/>
                      <a:r>
                        <a:rPr lang="en-US" dirty="0"/>
                        <a:t>20</a:t>
                      </a:r>
                    </a:p>
                  </a:txBody>
                  <a:tcPr/>
                </a:tc>
                <a:tc>
                  <a:txBody>
                    <a:bodyPr/>
                    <a:lstStyle/>
                    <a:p>
                      <a:pPr algn="ctr"/>
                      <a:r>
                        <a:rPr lang="en-US" dirty="0"/>
                        <a:t>1</a:t>
                      </a:r>
                    </a:p>
                  </a:txBody>
                  <a:tcPr/>
                </a:tc>
                <a:tc>
                  <a:txBody>
                    <a:bodyPr/>
                    <a:lstStyle/>
                    <a:p>
                      <a:pPr algn="ctr"/>
                      <a:r>
                        <a:rPr lang="en-US" dirty="0"/>
                        <a:t>0.21%</a:t>
                      </a:r>
                    </a:p>
                  </a:txBody>
                  <a:tcPr/>
                </a:tc>
                <a:extLst>
                  <a:ext uri="{0D108BD9-81ED-4DB2-BD59-A6C34878D82A}">
                    <a16:rowId xmlns:a16="http://schemas.microsoft.com/office/drawing/2014/main" val="1423262046"/>
                  </a:ext>
                </a:extLst>
              </a:tr>
              <a:tr h="186050">
                <a:tc>
                  <a:txBody>
                    <a:bodyPr/>
                    <a:lstStyle/>
                    <a:p>
                      <a:pPr algn="ctr"/>
                      <a:r>
                        <a:rPr lang="en-US" dirty="0"/>
                        <a:t>21</a:t>
                      </a:r>
                    </a:p>
                  </a:txBody>
                  <a:tcPr/>
                </a:tc>
                <a:tc>
                  <a:txBody>
                    <a:bodyPr/>
                    <a:lstStyle/>
                    <a:p>
                      <a:pPr algn="ctr"/>
                      <a:r>
                        <a:rPr lang="en-US" dirty="0"/>
                        <a:t>0</a:t>
                      </a:r>
                    </a:p>
                  </a:txBody>
                  <a:tcPr/>
                </a:tc>
                <a:tc>
                  <a:txBody>
                    <a:bodyPr/>
                    <a:lstStyle/>
                    <a:p>
                      <a:pPr algn="ctr"/>
                      <a:r>
                        <a:rPr lang="en-US" dirty="0"/>
                        <a:t>0.00%</a:t>
                      </a:r>
                    </a:p>
                  </a:txBody>
                  <a:tcPr/>
                </a:tc>
                <a:extLst>
                  <a:ext uri="{0D108BD9-81ED-4DB2-BD59-A6C34878D82A}">
                    <a16:rowId xmlns:a16="http://schemas.microsoft.com/office/drawing/2014/main" val="1897050004"/>
                  </a:ext>
                </a:extLst>
              </a:tr>
              <a:tr h="186050">
                <a:tc>
                  <a:txBody>
                    <a:bodyPr/>
                    <a:lstStyle/>
                    <a:p>
                      <a:r>
                        <a:rPr lang="en-US" dirty="0"/>
                        <a:t>Total</a:t>
                      </a:r>
                    </a:p>
                  </a:txBody>
                  <a:tcPr/>
                </a:tc>
                <a:tc>
                  <a:txBody>
                    <a:bodyPr/>
                    <a:lstStyle/>
                    <a:p>
                      <a:pPr algn="ctr"/>
                      <a:r>
                        <a:rPr lang="en-US" dirty="0"/>
                        <a:t>474</a:t>
                      </a:r>
                    </a:p>
                  </a:txBody>
                  <a:tcPr/>
                </a:tc>
                <a:tc>
                  <a:txBody>
                    <a:bodyPr/>
                    <a:lstStyle/>
                    <a:p>
                      <a:pPr algn="ctr"/>
                      <a:r>
                        <a:rPr lang="en-US" dirty="0"/>
                        <a:t>100.00%</a:t>
                      </a:r>
                    </a:p>
                  </a:txBody>
                  <a:tcPr/>
                </a:tc>
                <a:extLst>
                  <a:ext uri="{0D108BD9-81ED-4DB2-BD59-A6C34878D82A}">
                    <a16:rowId xmlns:a16="http://schemas.microsoft.com/office/drawing/2014/main" val="3516329852"/>
                  </a:ext>
                </a:extLst>
              </a:tr>
            </a:tbl>
          </a:graphicData>
        </a:graphic>
      </p:graphicFrame>
    </p:spTree>
    <p:extLst>
      <p:ext uri="{BB962C8B-B14F-4D97-AF65-F5344CB8AC3E}">
        <p14:creationId xmlns:p14="http://schemas.microsoft.com/office/powerpoint/2010/main" val="3240325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0EC08-EB8D-2C7A-B855-EF31F42D52C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Employee Demographic Profile – Tenure with the Company</a:t>
            </a:r>
          </a:p>
        </p:txBody>
      </p:sp>
      <p:sp>
        <p:nvSpPr>
          <p:cNvPr id="3" name="Content Placeholder 2">
            <a:extLst>
              <a:ext uri="{FF2B5EF4-FFF2-40B4-BE49-F238E27FC236}">
                <a16:creationId xmlns:a16="http://schemas.microsoft.com/office/drawing/2014/main" id="{A19A58C7-D955-B0AA-B2FB-2212C951DE15}"/>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Employee tenure, derived from the '</a:t>
            </a:r>
            <a:r>
              <a:rPr lang="en-US" sz="2400" dirty="0" err="1">
                <a:latin typeface="Times New Roman" panose="02020603050405020304" pitchFamily="18" charset="0"/>
                <a:cs typeface="Times New Roman" panose="02020603050405020304" pitchFamily="18" charset="0"/>
              </a:rPr>
              <a:t>jobtime</a:t>
            </a:r>
            <a:r>
              <a:rPr lang="en-US" sz="2400" dirty="0">
                <a:latin typeface="Times New Roman" panose="02020603050405020304" pitchFamily="18" charset="0"/>
                <a:cs typeface="Times New Roman" panose="02020603050405020304" pitchFamily="18" charset="0"/>
              </a:rPr>
              <a:t>' variable (assuming it's in months), indicates stability and experience within our organization.</a:t>
            </a:r>
          </a:p>
          <a:p>
            <a:r>
              <a:rPr lang="en-US" sz="2400" b="1" dirty="0">
                <a:latin typeface="Times New Roman" panose="02020603050405020304" pitchFamily="18" charset="0"/>
                <a:cs typeface="Times New Roman" panose="02020603050405020304" pitchFamily="18" charset="0"/>
              </a:rPr>
              <a:t>Minimum Tenure:</a:t>
            </a:r>
            <a:r>
              <a:rPr lang="en-US" sz="2400" dirty="0">
                <a:latin typeface="Times New Roman" panose="02020603050405020304" pitchFamily="18" charset="0"/>
                <a:cs typeface="Times New Roman" panose="02020603050405020304" pitchFamily="18" charset="0"/>
              </a:rPr>
              <a:t> 2 months (0.17 years)</a:t>
            </a:r>
          </a:p>
          <a:p>
            <a:r>
              <a:rPr lang="en-US" sz="2400" b="1" dirty="0">
                <a:latin typeface="Times New Roman" panose="02020603050405020304" pitchFamily="18" charset="0"/>
                <a:cs typeface="Times New Roman" panose="02020603050405020304" pitchFamily="18" charset="0"/>
              </a:rPr>
              <a:t>Maximum Tenure:</a:t>
            </a:r>
            <a:r>
              <a:rPr lang="en-US" sz="2400" dirty="0">
                <a:latin typeface="Times New Roman" panose="02020603050405020304" pitchFamily="18" charset="0"/>
                <a:cs typeface="Times New Roman" panose="02020603050405020304" pitchFamily="18" charset="0"/>
              </a:rPr>
              <a:t> 98 months (8.17 years)</a:t>
            </a:r>
          </a:p>
          <a:p>
            <a:r>
              <a:rPr lang="en-US" sz="2400" b="1" dirty="0">
                <a:latin typeface="Times New Roman" panose="02020603050405020304" pitchFamily="18" charset="0"/>
                <a:cs typeface="Times New Roman" panose="02020603050405020304" pitchFamily="18" charset="0"/>
              </a:rPr>
              <a:t>Average Tenure:</a:t>
            </a:r>
            <a:r>
              <a:rPr lang="en-US" sz="2400" dirty="0">
                <a:latin typeface="Times New Roman" panose="02020603050405020304" pitchFamily="18" charset="0"/>
                <a:cs typeface="Times New Roman" panose="02020603050405020304" pitchFamily="18" charset="0"/>
              </a:rPr>
              <a:t> 76.84 months = 6.40 years</a:t>
            </a:r>
          </a:p>
          <a:p>
            <a:endParaRPr lang="en-US" dirty="0"/>
          </a:p>
          <a:p>
            <a:endParaRPr lang="en-US" dirty="0"/>
          </a:p>
        </p:txBody>
      </p:sp>
      <p:graphicFrame>
        <p:nvGraphicFramePr>
          <p:cNvPr id="17" name="Chart 16">
            <a:extLst>
              <a:ext uri="{FF2B5EF4-FFF2-40B4-BE49-F238E27FC236}">
                <a16:creationId xmlns:a16="http://schemas.microsoft.com/office/drawing/2014/main" id="{B5194C63-3415-1756-4A98-0ACCBB71722A}"/>
              </a:ext>
            </a:extLst>
          </p:cNvPr>
          <p:cNvGraphicFramePr>
            <a:graphicFrameLocks/>
          </p:cNvGraphicFramePr>
          <p:nvPr>
            <p:extLst>
              <p:ext uri="{D42A27DB-BD31-4B8C-83A1-F6EECF244321}">
                <p14:modId xmlns:p14="http://schemas.microsoft.com/office/powerpoint/2010/main" val="289192900"/>
              </p:ext>
            </p:extLst>
          </p:nvPr>
        </p:nvGraphicFramePr>
        <p:xfrm>
          <a:off x="3333750" y="4163438"/>
          <a:ext cx="4651375" cy="24723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73044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A9ACB-BA16-44DB-3E12-1C5692C5921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Employee Demographic Profile – Minority Status</a:t>
            </a:r>
          </a:p>
        </p:txBody>
      </p:sp>
      <p:sp>
        <p:nvSpPr>
          <p:cNvPr id="3" name="Content Placeholder 2">
            <a:extLst>
              <a:ext uri="{FF2B5EF4-FFF2-40B4-BE49-F238E27FC236}">
                <a16:creationId xmlns:a16="http://schemas.microsoft.com/office/drawing/2014/main" id="{99A42DD9-5D39-0650-3E47-646769E70BF0}"/>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Promoting diversity is a key aspect of fair labor practices. The 'minority' variable indicates minority status (1 for minority, 0 for non-minority).</a:t>
            </a:r>
          </a:p>
          <a:p>
            <a:r>
              <a:rPr lang="en-US" sz="2400" b="1" dirty="0">
                <a:latin typeface="Times New Roman" panose="02020603050405020304" pitchFamily="18" charset="0"/>
                <a:cs typeface="Times New Roman" panose="02020603050405020304" pitchFamily="18" charset="0"/>
              </a:rPr>
              <a:t>Minority Employees:</a:t>
            </a:r>
            <a:r>
              <a:rPr lang="en-US" sz="2400" dirty="0">
                <a:latin typeface="Times New Roman" panose="02020603050405020304" pitchFamily="18" charset="0"/>
                <a:cs typeface="Times New Roman" panose="02020603050405020304" pitchFamily="18" charset="0"/>
              </a:rPr>
              <a:t> 80</a:t>
            </a:r>
          </a:p>
          <a:p>
            <a:r>
              <a:rPr lang="en-US" sz="2400" b="1" dirty="0">
                <a:latin typeface="Times New Roman" panose="02020603050405020304" pitchFamily="18" charset="0"/>
                <a:cs typeface="Times New Roman" panose="02020603050405020304" pitchFamily="18" charset="0"/>
              </a:rPr>
              <a:t>Non-Minority Employees:</a:t>
            </a:r>
            <a:r>
              <a:rPr lang="en-US" sz="2400" dirty="0">
                <a:latin typeface="Times New Roman" panose="02020603050405020304" pitchFamily="18" charset="0"/>
                <a:cs typeface="Times New Roman" panose="02020603050405020304" pitchFamily="18" charset="0"/>
              </a:rPr>
              <a:t> 394</a:t>
            </a:r>
          </a:p>
          <a:p>
            <a:r>
              <a:rPr lang="en-US" sz="2400" b="1" dirty="0">
                <a:latin typeface="Times New Roman" panose="02020603050405020304" pitchFamily="18" charset="0"/>
                <a:cs typeface="Times New Roman" panose="02020603050405020304" pitchFamily="18" charset="0"/>
              </a:rPr>
              <a:t>Minority Status Distribution:</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Minority:</a:t>
            </a:r>
            <a:r>
              <a:rPr lang="en-US" sz="2400" dirty="0">
                <a:latin typeface="Times New Roman" panose="02020603050405020304" pitchFamily="18" charset="0"/>
                <a:cs typeface="Times New Roman" panose="02020603050405020304" pitchFamily="18" charset="0"/>
              </a:rPr>
              <a:t> 80/474​ = 16.88%</a:t>
            </a:r>
          </a:p>
          <a:p>
            <a:r>
              <a:rPr lang="en-US" sz="2400" b="1" dirty="0">
                <a:latin typeface="Times New Roman" panose="02020603050405020304" pitchFamily="18" charset="0"/>
                <a:cs typeface="Times New Roman" panose="02020603050405020304" pitchFamily="18" charset="0"/>
              </a:rPr>
              <a:t>Non-Minority:</a:t>
            </a:r>
            <a:r>
              <a:rPr lang="en-US" sz="2400" dirty="0">
                <a:latin typeface="Times New Roman" panose="02020603050405020304" pitchFamily="18" charset="0"/>
                <a:cs typeface="Times New Roman" panose="02020603050405020304" pitchFamily="18" charset="0"/>
              </a:rPr>
              <a:t> 394/474 = 83.12%</a:t>
            </a:r>
          </a:p>
        </p:txBody>
      </p:sp>
      <p:graphicFrame>
        <p:nvGraphicFramePr>
          <p:cNvPr id="4" name="Chart 3">
            <a:extLst>
              <a:ext uri="{FF2B5EF4-FFF2-40B4-BE49-F238E27FC236}">
                <a16:creationId xmlns:a16="http://schemas.microsoft.com/office/drawing/2014/main" id="{1608EB44-BD97-5E3A-498E-704B37536724}"/>
              </a:ext>
            </a:extLst>
          </p:cNvPr>
          <p:cNvGraphicFramePr>
            <a:graphicFrameLocks/>
          </p:cNvGraphicFramePr>
          <p:nvPr>
            <p:extLst>
              <p:ext uri="{D42A27DB-BD31-4B8C-83A1-F6EECF244321}">
                <p14:modId xmlns:p14="http://schemas.microsoft.com/office/powerpoint/2010/main" val="940116614"/>
              </p:ext>
            </p:extLst>
          </p:nvPr>
        </p:nvGraphicFramePr>
        <p:xfrm>
          <a:off x="8202347" y="2375706"/>
          <a:ext cx="3358533" cy="28388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9133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927E-B974-8368-15A4-3B4EEC4C4D6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Employee Income Levels – Overall Salary Statistics</a:t>
            </a:r>
          </a:p>
        </p:txBody>
      </p:sp>
      <p:sp>
        <p:nvSpPr>
          <p:cNvPr id="3" name="Content Placeholder 2">
            <a:extLst>
              <a:ext uri="{FF2B5EF4-FFF2-40B4-BE49-F238E27FC236}">
                <a16:creationId xmlns:a16="http://schemas.microsoft.com/office/drawing/2014/main" id="{8B86A81C-018E-418E-18CF-7D0A17EF66F3}"/>
              </a:ext>
            </a:extLst>
          </p:cNvPr>
          <p:cNvSpPr>
            <a:spLocks noGrp="1"/>
          </p:cNvSpPr>
          <p:nvPr>
            <p:ph idx="1"/>
          </p:nvPr>
        </p:nvSpPr>
        <p:spPr>
          <a:xfrm>
            <a:off x="838199" y="1439332"/>
            <a:ext cx="6493934" cy="5418667"/>
          </a:xfrm>
        </p:spPr>
        <p:txBody>
          <a:bodyPr>
            <a:noAutofit/>
          </a:bodyPr>
          <a:lstStyle/>
          <a:p>
            <a:pPr marL="0" indent="0">
              <a:buNone/>
            </a:pPr>
            <a:endParaRPr lang="en-US" sz="12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Our company's compensation structure, based on current salary data:</a:t>
            </a:r>
          </a:p>
          <a:p>
            <a:r>
              <a:rPr lang="en-US" sz="1400" b="1" dirty="0">
                <a:latin typeface="Times New Roman" panose="02020603050405020304" pitchFamily="18" charset="0"/>
                <a:cs typeface="Times New Roman" panose="02020603050405020304" pitchFamily="18" charset="0"/>
              </a:rPr>
              <a:t>Mean Salary (Average):</a:t>
            </a:r>
            <a:r>
              <a:rPr lang="en-US" sz="1400" dirty="0">
                <a:latin typeface="Times New Roman" panose="02020603050405020304" pitchFamily="18" charset="0"/>
                <a:cs typeface="Times New Roman" panose="02020603050405020304" pitchFamily="18" charset="0"/>
              </a:rPr>
              <a:t> The average salary across all employees.</a:t>
            </a:r>
          </a:p>
          <a:p>
            <a:pPr lvl="1"/>
            <a:r>
              <a:rPr lang="en-US" sz="1400" b="1" dirty="0">
                <a:latin typeface="Times New Roman" panose="02020603050405020304" pitchFamily="18" charset="0"/>
                <a:cs typeface="Times New Roman" panose="02020603050405020304" pitchFamily="18" charset="0"/>
              </a:rPr>
              <a:t>Formula:</a:t>
            </a:r>
            <a:r>
              <a:rPr lang="en-US" sz="1400" dirty="0">
                <a:latin typeface="Times New Roman" panose="02020603050405020304" pitchFamily="18" charset="0"/>
                <a:cs typeface="Times New Roman" panose="02020603050405020304" pitchFamily="18" charset="0"/>
              </a:rPr>
              <a:t> Mean=Total Employees/ ∑Salaries​</a:t>
            </a:r>
          </a:p>
          <a:p>
            <a:pPr lvl="1"/>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$34,019.57</a:t>
            </a:r>
          </a:p>
          <a:p>
            <a:r>
              <a:rPr lang="en-US" sz="1400" b="1" dirty="0">
                <a:latin typeface="Times New Roman" panose="02020603050405020304" pitchFamily="18" charset="0"/>
                <a:cs typeface="Times New Roman" panose="02020603050405020304" pitchFamily="18" charset="0"/>
              </a:rPr>
              <a:t>Median Salary:</a:t>
            </a:r>
            <a:r>
              <a:rPr lang="en-US" sz="1400" dirty="0">
                <a:latin typeface="Times New Roman" panose="02020603050405020304" pitchFamily="18" charset="0"/>
                <a:cs typeface="Times New Roman" panose="02020603050405020304" pitchFamily="18" charset="0"/>
              </a:rPr>
              <a:t> The middle salary value when all salaries are ordered from lowest to highest.</a:t>
            </a:r>
          </a:p>
          <a:p>
            <a:pPr lvl="1"/>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Sort all salaries and find the middle value.</a:t>
            </a:r>
          </a:p>
          <a:p>
            <a:pPr lvl="1"/>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$28,875.00</a:t>
            </a:r>
          </a:p>
          <a:p>
            <a:r>
              <a:rPr lang="en-US" sz="1400" b="1" dirty="0">
                <a:latin typeface="Times New Roman" panose="02020603050405020304" pitchFamily="18" charset="0"/>
                <a:cs typeface="Times New Roman" panose="02020603050405020304" pitchFamily="18" charset="0"/>
              </a:rPr>
              <a:t>Mode Salary:</a:t>
            </a:r>
            <a:r>
              <a:rPr lang="en-US" sz="1400" dirty="0">
                <a:latin typeface="Times New Roman" panose="02020603050405020304" pitchFamily="18" charset="0"/>
                <a:cs typeface="Times New Roman" panose="02020603050405020304" pitchFamily="18" charset="0"/>
              </a:rPr>
              <a:t> The most frequently occurring salary value.</a:t>
            </a:r>
          </a:p>
          <a:p>
            <a:pPr lvl="1"/>
            <a:r>
              <a:rPr lang="en-US" sz="1400" b="1" dirty="0">
                <a:latin typeface="Times New Roman" panose="02020603050405020304" pitchFamily="18" charset="0"/>
                <a:cs typeface="Times New Roman" panose="02020603050405020304" pitchFamily="18" charset="0"/>
              </a:rPr>
              <a:t>Method:</a:t>
            </a:r>
            <a:r>
              <a:rPr lang="en-US" sz="1400" dirty="0">
                <a:latin typeface="Times New Roman" panose="02020603050405020304" pitchFamily="18" charset="0"/>
                <a:cs typeface="Times New Roman" panose="02020603050405020304" pitchFamily="18" charset="0"/>
              </a:rPr>
              <a:t> Identify the salary value with the highest frequency.</a:t>
            </a:r>
          </a:p>
          <a:p>
            <a:pPr lvl="1"/>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$27,450.00 (appears 5 times)</a:t>
            </a:r>
          </a:p>
          <a:p>
            <a:r>
              <a:rPr lang="en-US" sz="1400" b="1" dirty="0">
                <a:latin typeface="Times New Roman" panose="02020603050405020304" pitchFamily="18" charset="0"/>
                <a:cs typeface="Times New Roman" panose="02020603050405020304" pitchFamily="18" charset="0"/>
              </a:rPr>
              <a:t>Standard Deviation:</a:t>
            </a:r>
            <a:r>
              <a:rPr lang="en-US" sz="1400" dirty="0">
                <a:latin typeface="Times New Roman" panose="02020603050405020304" pitchFamily="18" charset="0"/>
                <a:cs typeface="Times New Roman" panose="02020603050405020304" pitchFamily="18" charset="0"/>
              </a:rPr>
              <a:t> Measures the typical spread or variation of salaries from the average.</a:t>
            </a:r>
          </a:p>
          <a:p>
            <a:pPr lvl="1"/>
            <a:r>
              <a:rPr lang="en-US" sz="1400" b="1" dirty="0">
                <a:latin typeface="Times New Roman" panose="02020603050405020304" pitchFamily="18" charset="0"/>
                <a:cs typeface="Times New Roman" panose="02020603050405020304" pitchFamily="18" charset="0"/>
              </a:rPr>
              <a:t>Concept:</a:t>
            </a:r>
            <a:r>
              <a:rPr lang="en-US" sz="1400" dirty="0">
                <a:latin typeface="Times New Roman" panose="02020603050405020304" pitchFamily="18" charset="0"/>
                <a:cs typeface="Times New Roman" panose="02020603050405020304" pitchFamily="18" charset="0"/>
              </a:rPr>
              <a:t> Average distance of data points from the Mean.</a:t>
            </a:r>
          </a:p>
          <a:p>
            <a:pPr lvl="1"/>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$17,075.66</a:t>
            </a:r>
          </a:p>
          <a:p>
            <a:r>
              <a:rPr lang="en-US" sz="1400" b="1" dirty="0">
                <a:latin typeface="Times New Roman" panose="02020603050405020304" pitchFamily="18" charset="0"/>
                <a:cs typeface="Times New Roman" panose="02020603050405020304" pitchFamily="18" charset="0"/>
              </a:rPr>
              <a:t>Variance:</a:t>
            </a:r>
            <a:r>
              <a:rPr lang="en-US" sz="1400" dirty="0">
                <a:latin typeface="Times New Roman" panose="02020603050405020304" pitchFamily="18" charset="0"/>
                <a:cs typeface="Times New Roman" panose="02020603050405020304" pitchFamily="18" charset="0"/>
              </a:rPr>
              <a:t> A measure of the overall spread of salaries, calculated as the square of the standard deviation.</a:t>
            </a:r>
          </a:p>
          <a:p>
            <a:pPr lvl="1"/>
            <a:r>
              <a:rPr lang="en-US" sz="1400" b="1" dirty="0">
                <a:latin typeface="Times New Roman" panose="02020603050405020304" pitchFamily="18" charset="0"/>
                <a:cs typeface="Times New Roman" panose="02020603050405020304" pitchFamily="18" charset="0"/>
              </a:rPr>
              <a:t>Formula:</a:t>
            </a:r>
            <a:r>
              <a:rPr lang="en-US" sz="1400" dirty="0">
                <a:latin typeface="Times New Roman" panose="02020603050405020304" pitchFamily="18" charset="0"/>
                <a:cs typeface="Times New Roman" panose="02020603050405020304" pitchFamily="18" charset="0"/>
              </a:rPr>
              <a:t> Variance=(Standard Deviation)2</a:t>
            </a:r>
          </a:p>
          <a:p>
            <a:pPr lvl="1"/>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$291,570,229.00</a:t>
            </a:r>
          </a:p>
        </p:txBody>
      </p:sp>
      <p:graphicFrame>
        <p:nvGraphicFramePr>
          <p:cNvPr id="4" name="Chart 3">
            <a:extLst>
              <a:ext uri="{FF2B5EF4-FFF2-40B4-BE49-F238E27FC236}">
                <a16:creationId xmlns:a16="http://schemas.microsoft.com/office/drawing/2014/main" id="{FBA517FD-603F-6DA5-2C02-CEAE25898FAE}"/>
              </a:ext>
            </a:extLst>
          </p:cNvPr>
          <p:cNvGraphicFramePr>
            <a:graphicFrameLocks/>
          </p:cNvGraphicFramePr>
          <p:nvPr>
            <p:extLst>
              <p:ext uri="{D42A27DB-BD31-4B8C-83A1-F6EECF244321}">
                <p14:modId xmlns:p14="http://schemas.microsoft.com/office/powerpoint/2010/main" val="3408680318"/>
              </p:ext>
            </p:extLst>
          </p:nvPr>
        </p:nvGraphicFramePr>
        <p:xfrm>
          <a:off x="7716278" y="1825625"/>
          <a:ext cx="3637522" cy="33021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90183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C8F3A-6A19-D227-155D-354C98EEEAB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Employee Income Levels – Salary by Gend</a:t>
            </a:r>
            <a:r>
              <a:rPr lang="en-US" dirty="0">
                <a:latin typeface="Times New Roman" panose="02020603050405020304" pitchFamily="18" charset="0"/>
                <a:cs typeface="Times New Roman" panose="02020603050405020304" pitchFamily="18" charset="0"/>
              </a:rPr>
              <a:t>er</a:t>
            </a:r>
          </a:p>
        </p:txBody>
      </p:sp>
      <p:sp>
        <p:nvSpPr>
          <p:cNvPr id="3" name="Content Placeholder 2">
            <a:extLst>
              <a:ext uri="{FF2B5EF4-FFF2-40B4-BE49-F238E27FC236}">
                <a16:creationId xmlns:a16="http://schemas.microsoft.com/office/drawing/2014/main" id="{39142E0F-94B6-6244-B320-E63ABF14B510}"/>
              </a:ext>
            </a:extLst>
          </p:cNvPr>
          <p:cNvSpPr>
            <a:spLocks noGrp="1"/>
          </p:cNvSpPr>
          <p:nvPr>
            <p:ph idx="1"/>
          </p:nvPr>
        </p:nvSpPr>
        <p:spPr>
          <a:xfrm>
            <a:off x="838200" y="1825625"/>
            <a:ext cx="7487653" cy="4351338"/>
          </a:xfrm>
        </p:spPr>
        <p:txBody>
          <a:bodyPr>
            <a:normAutofit/>
          </a:bodyPr>
          <a:lstStyle/>
          <a:p>
            <a:r>
              <a:rPr lang="en-US" sz="2000" dirty="0">
                <a:latin typeface="Times New Roman" panose="02020603050405020304" pitchFamily="18" charset="0"/>
                <a:cs typeface="Times New Roman" panose="02020603050405020304" pitchFamily="18" charset="0"/>
              </a:rPr>
              <a:t>Breaking down salaries by gender is crucial for assessing pay equity.</a:t>
            </a:r>
          </a:p>
          <a:p>
            <a:r>
              <a:rPr lang="en-US" sz="2000" b="1" dirty="0">
                <a:latin typeface="Times New Roman" panose="02020603050405020304" pitchFamily="18" charset="0"/>
                <a:cs typeface="Times New Roman" panose="02020603050405020304" pitchFamily="18" charset="0"/>
              </a:rPr>
              <a:t>Mean Salary - Male Employees:</a:t>
            </a:r>
            <a:r>
              <a:rPr lang="en-US" sz="2000" dirty="0">
                <a:latin typeface="Times New Roman" panose="02020603050405020304" pitchFamily="18" charset="0"/>
                <a:cs typeface="Times New Roman" panose="02020603050405020304" pitchFamily="18" charset="0"/>
              </a:rPr>
              <a:t> $ \text{Mean Male Salary} = $37,846.12</a:t>
            </a:r>
          </a:p>
          <a:p>
            <a:r>
              <a:rPr lang="en-US" sz="2000" b="1" dirty="0">
                <a:latin typeface="Times New Roman" panose="02020603050405020304" pitchFamily="18" charset="0"/>
                <a:cs typeface="Times New Roman" panose="02020603050405020304" pitchFamily="18" charset="0"/>
              </a:rPr>
              <a:t>Mean Salary - Female Employees:</a:t>
            </a:r>
            <a:r>
              <a:rPr lang="en-US" sz="2000" dirty="0">
                <a:latin typeface="Times New Roman" panose="02020603050405020304" pitchFamily="18" charset="0"/>
                <a:cs typeface="Times New Roman" panose="02020603050405020304" pitchFamily="18" charset="0"/>
              </a:rPr>
              <a:t> $ \text{Mean Female Salary} = $26,881.37</a:t>
            </a:r>
          </a:p>
          <a:p>
            <a:r>
              <a:rPr lang="en-US" sz="2000" b="1" dirty="0">
                <a:latin typeface="Times New Roman" panose="02020603050405020304" pitchFamily="18" charset="0"/>
                <a:cs typeface="Times New Roman" panose="02020603050405020304" pitchFamily="18" charset="0"/>
              </a:rPr>
              <a:t>Initial Observation:</a:t>
            </a:r>
            <a:r>
              <a:rPr lang="en-US" sz="2000" dirty="0">
                <a:latin typeface="Times New Roman" panose="02020603050405020304" pitchFamily="18" charset="0"/>
                <a:cs typeface="Times New Roman" panose="02020603050405020304" pitchFamily="18" charset="0"/>
              </a:rPr>
              <a:t> There is a noticeable difference in mean salaries between male and female employees. Further investigation, considering factors like job category, experience, and education, would be required to understand the reasons behind this gap and ensure fair practices.</a:t>
            </a:r>
          </a:p>
          <a:p>
            <a:endParaRPr lang="en-US" dirty="0"/>
          </a:p>
        </p:txBody>
      </p:sp>
      <p:graphicFrame>
        <p:nvGraphicFramePr>
          <p:cNvPr id="4" name="Chart 3">
            <a:extLst>
              <a:ext uri="{FF2B5EF4-FFF2-40B4-BE49-F238E27FC236}">
                <a16:creationId xmlns:a16="http://schemas.microsoft.com/office/drawing/2014/main" id="{1B11DC64-92E2-5653-9905-DABCDCB07EF4}"/>
              </a:ext>
            </a:extLst>
          </p:cNvPr>
          <p:cNvGraphicFramePr>
            <a:graphicFrameLocks/>
          </p:cNvGraphicFramePr>
          <p:nvPr>
            <p:extLst>
              <p:ext uri="{D42A27DB-BD31-4B8C-83A1-F6EECF244321}">
                <p14:modId xmlns:p14="http://schemas.microsoft.com/office/powerpoint/2010/main" val="3449379839"/>
              </p:ext>
            </p:extLst>
          </p:nvPr>
        </p:nvGraphicFramePr>
        <p:xfrm>
          <a:off x="8325853" y="1825624"/>
          <a:ext cx="3222278" cy="34201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0047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3676-5862-9F4C-7181-70A2A1D6A4FB}"/>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Understanding Industry Benchmarks – Statistical Concepts Explained</a:t>
            </a:r>
          </a:p>
        </p:txBody>
      </p:sp>
      <p:sp>
        <p:nvSpPr>
          <p:cNvPr id="3" name="Content Placeholder 2">
            <a:extLst>
              <a:ext uri="{FF2B5EF4-FFF2-40B4-BE49-F238E27FC236}">
                <a16:creationId xmlns:a16="http://schemas.microsoft.com/office/drawing/2014/main" id="{DA11A46D-8643-0409-DCB1-CBE5A2991289}"/>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To compare our company's income levels with the industry average, we need to understand a few statistical concepts.</a:t>
            </a:r>
          </a:p>
          <a:p>
            <a:pPr algn="just"/>
            <a:r>
              <a:rPr lang="en-US" sz="2200" b="1" dirty="0">
                <a:latin typeface="Times New Roman" panose="02020603050405020304" pitchFamily="18" charset="0"/>
                <a:cs typeface="Times New Roman" panose="02020603050405020304" pitchFamily="18" charset="0"/>
              </a:rPr>
              <a:t>Margin of Error (ME):</a:t>
            </a:r>
            <a:r>
              <a:rPr lang="en-US" sz="2200" dirty="0">
                <a:latin typeface="Times New Roman" panose="02020603050405020304" pitchFamily="18" charset="0"/>
                <a:cs typeface="Times New Roman" panose="02020603050405020304" pitchFamily="18" charset="0"/>
              </a:rPr>
              <a:t> This is the "plus or minus" figure when you hear a survey result. It tells us how much the sample result (e.g., average income from our research) might differ from the true population average. A smaller margin of error means more precision.</a:t>
            </a:r>
          </a:p>
          <a:p>
            <a:pPr algn="just"/>
            <a:r>
              <a:rPr lang="en-US" sz="2200" b="1" dirty="0">
                <a:latin typeface="Times New Roman" panose="02020603050405020304" pitchFamily="18" charset="0"/>
                <a:cs typeface="Times New Roman" panose="02020603050405020304" pitchFamily="18" charset="0"/>
              </a:rPr>
              <a:t>Confidence Interval (CI):</a:t>
            </a:r>
            <a:r>
              <a:rPr lang="en-US" sz="2200" dirty="0">
                <a:latin typeface="Times New Roman" panose="02020603050405020304" pitchFamily="18" charset="0"/>
                <a:cs typeface="Times New Roman" panose="02020603050405020304" pitchFamily="18" charset="0"/>
              </a:rPr>
              <a:t> This is a range of values within which we are confident the true population average lies. For example, a 95% confidence interval means if we were to repeat our research many times, 95% of those intervals would contain the true population average.</a:t>
            </a:r>
          </a:p>
          <a:p>
            <a:pPr algn="just"/>
            <a:r>
              <a:rPr lang="en-US" sz="2200" b="1" dirty="0">
                <a:latin typeface="Times New Roman" panose="02020603050405020304" pitchFamily="18" charset="0"/>
                <a:cs typeface="Times New Roman" panose="02020603050405020304" pitchFamily="18" charset="0"/>
              </a:rPr>
              <a:t>Sample Size Determination:</a:t>
            </a:r>
            <a:r>
              <a:rPr lang="en-US" sz="2200" dirty="0">
                <a:latin typeface="Times New Roman" panose="02020603050405020304" pitchFamily="18" charset="0"/>
                <a:cs typeface="Times New Roman" panose="02020603050405020304" pitchFamily="18" charset="0"/>
              </a:rPr>
              <a:t> This refers to how many individuals or data points are needed in a study to achieve a certain level of precision (margin of error) with a desired level of confidence.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66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27146-9E24-06D3-FF61-CCCDA5A4923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Industry Income Analysis – Margin of Error and Confidence Interval</a:t>
            </a:r>
          </a:p>
        </p:txBody>
      </p:sp>
      <p:sp>
        <p:nvSpPr>
          <p:cNvPr id="12" name="AutoShape 9">
            <a:extLst>
              <a:ext uri="{FF2B5EF4-FFF2-40B4-BE49-F238E27FC236}">
                <a16:creationId xmlns:a16="http://schemas.microsoft.com/office/drawing/2014/main" id="{BD49F30D-3234-A590-DDEB-AEAB20062EE0}"/>
              </a:ext>
            </a:extLst>
          </p:cNvPr>
          <p:cNvSpPr>
            <a:spLocks noChangeAspect="1" noChangeArrowheads="1"/>
          </p:cNvSpPr>
          <p:nvPr/>
        </p:nvSpPr>
        <p:spPr bwMode="auto">
          <a:xfrm>
            <a:off x="7693025" y="346709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22" name="Rectangle 19">
            <a:extLst>
              <a:ext uri="{FF2B5EF4-FFF2-40B4-BE49-F238E27FC236}">
                <a16:creationId xmlns:a16="http://schemas.microsoft.com/office/drawing/2014/main" id="{EB113E0A-D007-4D54-E08A-7F347CCC713C}"/>
              </a:ext>
            </a:extLst>
          </p:cNvPr>
          <p:cNvSpPr>
            <a:spLocks noChangeArrowheads="1"/>
          </p:cNvSpPr>
          <p:nvPr/>
        </p:nvSpPr>
        <p:spPr bwMode="auto">
          <a:xfrm>
            <a:off x="696595" y="1785158"/>
            <a:ext cx="1231169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Using provided industry data to estimate average income: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Industry Sample Mean (xˉ):</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$34,208.00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Industry Sample Standard Deviation (s):</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$17,629.00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Industry Sample Size (n):</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380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95% Confidence Level:</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Z-score ≈1.96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21">
            <a:extLst>
              <a:ext uri="{FF2B5EF4-FFF2-40B4-BE49-F238E27FC236}">
                <a16:creationId xmlns:a16="http://schemas.microsoft.com/office/drawing/2014/main" id="{25921398-C50E-5E9E-34A8-35E5DE9B1F02}"/>
              </a:ext>
            </a:extLst>
          </p:cNvPr>
          <p:cNvSpPr>
            <a:spLocks noChangeArrowheads="1"/>
          </p:cNvSpPr>
          <p:nvPr/>
        </p:nvSpPr>
        <p:spPr bwMode="auto">
          <a:xfrm>
            <a:off x="696594" y="3235627"/>
            <a:ext cx="1134300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Calculate Margin of Error (ME):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Formula:</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ME=Z× n​/ (square) s​</a:t>
            </a:r>
          </a:p>
          <a:p>
            <a:pPr lvl="0" eaLnBrk="0" fontAlgn="base" hangingPunct="0">
              <a:spcBef>
                <a:spcPct val="0"/>
              </a:spcBef>
              <a:spcAft>
                <a:spcPct val="0"/>
              </a:spcAft>
              <a:buFontTx/>
              <a:buChar char="•"/>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Calculation:</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ME=1.96× </a:t>
            </a:r>
            <a:r>
              <a:rPr lang="en-US" altLang="en-US" dirty="0">
                <a:solidFill>
                  <a:srgbClr val="000000"/>
                </a:solidFill>
                <a:latin typeface="Times New Roman" panose="02020603050405020304" pitchFamily="18" charset="0"/>
                <a:cs typeface="Times New Roman" panose="02020603050405020304" pitchFamily="18" charset="0"/>
              </a:rPr>
              <a:t>(square) </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380 / $17,629.00​ </a:t>
            </a:r>
          </a:p>
          <a:p>
            <a:pPr lvl="0" eaLnBrk="0" fontAlgn="base" hangingPunct="0">
              <a:spcBef>
                <a:spcPct val="0"/>
              </a:spcBef>
              <a:spcAft>
                <a:spcPct val="0"/>
              </a:spcAft>
              <a:buFontTx/>
              <a:buChar char="•"/>
            </a:pP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ME=1.96×$904.34 </a:t>
            </a: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mathbf</a:t>
            </a: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{ME \</a:t>
            </a:r>
            <a:r>
              <a:rPr kumimoji="0" lang="en-US" altLang="en-US" sz="18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approx</a:t>
            </a: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$1,772.51} $</a:t>
            </a:r>
            <a:endPar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AutoShape 22">
            <a:extLst>
              <a:ext uri="{FF2B5EF4-FFF2-40B4-BE49-F238E27FC236}">
                <a16:creationId xmlns:a16="http://schemas.microsoft.com/office/drawing/2014/main" id="{037AA728-6FED-6298-9DEC-269E8D13C1B1}"/>
              </a:ext>
            </a:extLst>
          </p:cNvPr>
          <p:cNvSpPr>
            <a:spLocks noChangeAspect="1" noChangeArrowheads="1"/>
          </p:cNvSpPr>
          <p:nvPr/>
        </p:nvSpPr>
        <p:spPr bwMode="auto">
          <a:xfrm>
            <a:off x="2962275" y="2438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23">
            <a:extLst>
              <a:ext uri="{FF2B5EF4-FFF2-40B4-BE49-F238E27FC236}">
                <a16:creationId xmlns:a16="http://schemas.microsoft.com/office/drawing/2014/main" id="{74665A71-A8CD-8DCF-8822-0D3DA01DF375}"/>
              </a:ext>
            </a:extLst>
          </p:cNvPr>
          <p:cNvSpPr>
            <a:spLocks noChangeAspect="1" noChangeArrowheads="1"/>
          </p:cNvSpPr>
          <p:nvPr/>
        </p:nvSpPr>
        <p:spPr bwMode="auto">
          <a:xfrm>
            <a:off x="3851275" y="27273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Rectangle 25">
            <a:extLst>
              <a:ext uri="{FF2B5EF4-FFF2-40B4-BE49-F238E27FC236}">
                <a16:creationId xmlns:a16="http://schemas.microsoft.com/office/drawing/2014/main" id="{08B54370-F1CA-F2D1-61B8-6091B69C3FD1}"/>
              </a:ext>
            </a:extLst>
          </p:cNvPr>
          <p:cNvSpPr>
            <a:spLocks noChangeArrowheads="1"/>
          </p:cNvSpPr>
          <p:nvPr/>
        </p:nvSpPr>
        <p:spPr bwMode="auto">
          <a:xfrm>
            <a:off x="696593" y="4393403"/>
            <a:ext cx="1052385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Calculate 95% Confidence Interval (CI):</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Formula:</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CI=xˉ±ME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Calculation:</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CI= $34,208.00 ± $1,772.51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CI Range: </a:t>
            </a:r>
            <a:r>
              <a:rPr kumimoji="0" lang="en-US" altLang="en-US" sz="18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$32,435.49 to $35,980.51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7">
            <a:extLst>
              <a:ext uri="{FF2B5EF4-FFF2-40B4-BE49-F238E27FC236}">
                <a16:creationId xmlns:a16="http://schemas.microsoft.com/office/drawing/2014/main" id="{9F429828-A1A3-A938-907C-A5080136ADF1}"/>
              </a:ext>
            </a:extLst>
          </p:cNvPr>
          <p:cNvSpPr>
            <a:spLocks noChangeArrowheads="1"/>
          </p:cNvSpPr>
          <p:nvPr/>
        </p:nvSpPr>
        <p:spPr bwMode="auto">
          <a:xfrm>
            <a:off x="696595" y="5766929"/>
            <a:ext cx="84785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Conclusion:</a:t>
            </a:r>
            <a: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We are 95% confident the true average industry income is between </a:t>
            </a:r>
            <a:r>
              <a:rPr kumimoji="0" lang="en-US" altLang="en-US" sz="18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$32,435.49 and $35,980.51.</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2" name="AutoShape 29">
            <a:extLst>
              <a:ext uri="{FF2B5EF4-FFF2-40B4-BE49-F238E27FC236}">
                <a16:creationId xmlns:a16="http://schemas.microsoft.com/office/drawing/2014/main" id="{670F9A56-A160-83A8-72B7-3E356269077B}"/>
              </a:ext>
            </a:extLst>
          </p:cNvPr>
          <p:cNvSpPr>
            <a:spLocks noChangeAspect="1" noChangeArrowheads="1"/>
          </p:cNvSpPr>
          <p:nvPr/>
        </p:nvSpPr>
        <p:spPr bwMode="auto">
          <a:xfrm>
            <a:off x="5080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77449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CD2E-CF31-A78F-0BDC-E4D7AC373587}"/>
              </a:ext>
            </a:extLst>
          </p:cNvPr>
          <p:cNvSpPr>
            <a:spLocks noGrp="1"/>
          </p:cNvSpPr>
          <p:nvPr>
            <p:ph type="title"/>
          </p:nvPr>
        </p:nvSpPr>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Industry Income Analysis – Required Sample Size for Different Confidence Levels</a:t>
            </a:r>
          </a:p>
        </p:txBody>
      </p:sp>
      <p:sp>
        <p:nvSpPr>
          <p:cNvPr id="3" name="Content Placeholder 2">
            <a:extLst>
              <a:ext uri="{FF2B5EF4-FFF2-40B4-BE49-F238E27FC236}">
                <a16:creationId xmlns:a16="http://schemas.microsoft.com/office/drawing/2014/main" id="{8FD6788E-C611-9E60-6FB9-D7488BEBECA2}"/>
              </a:ext>
            </a:extLst>
          </p:cNvPr>
          <p:cNvSpPr>
            <a:spLocks noGrp="1"/>
          </p:cNvSpPr>
          <p:nvPr>
            <p:ph idx="1"/>
          </p:nvPr>
        </p:nvSpPr>
        <p:spPr>
          <a:xfrm>
            <a:off x="838200" y="1825625"/>
            <a:ext cx="10515600" cy="4862046"/>
          </a:xfrm>
        </p:spPr>
        <p:txBody>
          <a:bodyPr>
            <a:normAutofit fontScale="92500" lnSpcReduction="10000"/>
          </a:bodyPr>
          <a:lstStyle/>
          <a:p>
            <a:r>
              <a:rPr lang="en-US" sz="1800" dirty="0">
                <a:latin typeface="Times New Roman" panose="02020603050405020304" pitchFamily="18" charset="0"/>
                <a:cs typeface="Times New Roman" panose="02020603050405020304" pitchFamily="18" charset="0"/>
              </a:rPr>
              <a:t>Let's determine the sample size needed if we wanted to achieve the </a:t>
            </a:r>
            <a:r>
              <a:rPr lang="en-US" sz="1800" i="1" dirty="0">
                <a:latin typeface="Times New Roman" panose="02020603050405020304" pitchFamily="18" charset="0"/>
                <a:cs typeface="Times New Roman" panose="02020603050405020304" pitchFamily="18" charset="0"/>
              </a:rPr>
              <a:t>same margin of error</a:t>
            </a:r>
            <a:r>
              <a:rPr lang="en-US" sz="1800" dirty="0">
                <a:latin typeface="Times New Roman" panose="02020603050405020304" pitchFamily="18" charset="0"/>
                <a:cs typeface="Times New Roman" panose="02020603050405020304" pitchFamily="18" charset="0"/>
              </a:rPr>
              <a:t> ($1,772.51) but with different confidence levels. </a:t>
            </a:r>
          </a:p>
          <a:p>
            <a:r>
              <a:rPr lang="en-US" sz="1800" dirty="0">
                <a:latin typeface="Times New Roman" panose="02020603050405020304" pitchFamily="18" charset="0"/>
                <a:cs typeface="Times New Roman" panose="02020603050405020304" pitchFamily="18" charset="0"/>
              </a:rPr>
              <a:t>The formula for required sample size is: n = ME </a:t>
            </a:r>
            <a:r>
              <a:rPr kumimoji="0" lang="en-US" altLang="en-US" sz="1800" b="0" i="0" u="none" strike="noStrike" cap="none" normalizeH="0" baseline="0" dirty="0">
                <a:ln>
                  <a:noFill/>
                </a:ln>
                <a:solidFill>
                  <a:srgbClr val="000000"/>
                </a:solidFill>
                <a:effectLst/>
                <a:latin typeface="Arial" panose="020B0604020202020204" pitchFamily="34" charset="0"/>
              </a:rPr>
              <a:t>(square) / </a:t>
            </a:r>
            <a:r>
              <a:rPr lang="en-US" sz="1800" dirty="0">
                <a:latin typeface="Times New Roman" panose="02020603050405020304" pitchFamily="18" charset="0"/>
                <a:cs typeface="Times New Roman" panose="02020603050405020304" pitchFamily="18" charset="0"/>
              </a:rPr>
              <a:t>Z</a:t>
            </a:r>
            <a:r>
              <a:rPr kumimoji="0" lang="en-US" altLang="en-US" sz="1800" b="0" i="0" u="none" strike="noStrike" cap="none" normalizeH="0" baseline="0" dirty="0">
                <a:ln>
                  <a:noFill/>
                </a:ln>
                <a:solidFill>
                  <a:srgbClr val="000000"/>
                </a:solidFill>
                <a:effectLst/>
                <a:latin typeface="Arial" panose="020B0604020202020204" pitchFamily="34" charset="0"/>
              </a:rPr>
              <a:t> (square) </a:t>
            </a:r>
            <a:r>
              <a:rPr lang="en-US" sz="1800" dirty="0">
                <a:latin typeface="Times New Roman" panose="02020603050405020304" pitchFamily="18" charset="0"/>
                <a:cs typeface="Times New Roman" panose="02020603050405020304" pitchFamily="18" charset="0"/>
              </a:rPr>
              <a:t>∗SD</a:t>
            </a:r>
            <a:r>
              <a:rPr kumimoji="0" lang="en-US" altLang="en-US" sz="1800" b="0" i="0" u="none" strike="noStrike" cap="none" normalizeH="0" baseline="0" dirty="0">
                <a:ln>
                  <a:noFill/>
                </a:ln>
                <a:solidFill>
                  <a:srgbClr val="000000"/>
                </a:solidFill>
                <a:effectLst/>
                <a:latin typeface="Arial" panose="020B0604020202020204" pitchFamily="34" charset="0"/>
              </a:rPr>
              <a:t> (square) </a:t>
            </a:r>
            <a:r>
              <a:rPr lang="en-US" sz="1800"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For 99% Confidence Interval:</a:t>
            </a:r>
            <a:r>
              <a:rPr lang="en-US" sz="1800" dirty="0">
                <a:latin typeface="Times New Roman" panose="02020603050405020304" pitchFamily="18" charset="0"/>
                <a:cs typeface="Times New Roman" panose="02020603050405020304" pitchFamily="18" charset="0"/>
              </a:rPr>
              <a:t> The Z-score for 99% CI is approximately 2.576. </a:t>
            </a:r>
          </a:p>
          <a:p>
            <a:pPr marL="0" indent="0">
              <a:buNone/>
            </a:pPr>
            <a:r>
              <a:rPr lang="en-US" sz="1800" dirty="0">
                <a:latin typeface="Times New Roman" panose="02020603050405020304" pitchFamily="18" charset="0"/>
                <a:cs typeface="Times New Roman" panose="02020603050405020304" pitchFamily="18" charset="0"/>
              </a:rPr>
              <a:t>$ n = \frac{(2.576)^2 * (17,629.00)^2}{($1,772.51)^2} $ </a:t>
            </a:r>
          </a:p>
          <a:p>
            <a:pPr marL="0" indent="0">
              <a:buNone/>
            </a:pPr>
            <a:r>
              <a:rPr lang="en-US" sz="1800" dirty="0">
                <a:latin typeface="Times New Roman" panose="02020603050405020304" pitchFamily="18" charset="0"/>
                <a:cs typeface="Times New Roman" panose="02020603050405020304" pitchFamily="18" charset="0"/>
              </a:rPr>
              <a:t>n = (3141730.07) / 6.635776 ∗ 310761541​ n = 3141730.07 / 2062590635​ = 656.51</a:t>
            </a:r>
          </a:p>
          <a:p>
            <a:pPr marL="0" indent="0">
              <a:buNone/>
            </a:pPr>
            <a:r>
              <a:rPr lang="en-US" sz="1800" b="1" dirty="0">
                <a:latin typeface="Times New Roman" panose="02020603050405020304" pitchFamily="18" charset="0"/>
                <a:cs typeface="Times New Roman" panose="02020603050405020304" pitchFamily="18" charset="0"/>
              </a:rPr>
              <a:t>Required Sample Size  = 657 employees</a:t>
            </a:r>
            <a:r>
              <a:rPr lang="en-US" sz="1800"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(This means to be 99% confident with the same precision, we would need a larger sample.)</a:t>
            </a:r>
          </a:p>
          <a:p>
            <a:r>
              <a:rPr lang="en-US" sz="1800" b="1" dirty="0">
                <a:latin typeface="Times New Roman" panose="02020603050405020304" pitchFamily="18" charset="0"/>
                <a:cs typeface="Times New Roman" panose="02020603050405020304" pitchFamily="18" charset="0"/>
              </a:rPr>
              <a:t>For 90% Confidence Interval:</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The Z-score for 90% CI is approximately 1.645. </a:t>
            </a:r>
          </a:p>
          <a:p>
            <a:pPr marL="0" indent="0">
              <a:buNone/>
            </a:pPr>
            <a:r>
              <a:rPr lang="en-US" sz="1800" dirty="0">
                <a:latin typeface="Times New Roman" panose="02020603050405020304" pitchFamily="18" charset="0"/>
                <a:cs typeface="Times New Roman" panose="02020603050405020304" pitchFamily="18" charset="0"/>
              </a:rPr>
              <a:t>$ n = \frac{(1.645)^2 * (17,629.00)^2}{($1,772.51)^2}$</a:t>
            </a:r>
          </a:p>
          <a:p>
            <a:pPr marL="0" indent="0">
              <a:buNone/>
            </a:pPr>
            <a:r>
              <a:rPr lang="en-US" sz="1800" dirty="0">
                <a:latin typeface="Times New Roman" panose="02020603050405020304" pitchFamily="18" charset="0"/>
                <a:cs typeface="Times New Roman" panose="02020603050405020304" pitchFamily="18" charset="0"/>
              </a:rPr>
              <a:t>N = (3141730.07) / 2.706025∗310761541​ </a:t>
            </a:r>
          </a:p>
          <a:p>
            <a:pPr marL="0" indent="0">
              <a:buNone/>
            </a:pPr>
            <a:r>
              <a:rPr lang="en-US" sz="1800" dirty="0">
                <a:latin typeface="Times New Roman" panose="02020603050405020304" pitchFamily="18" charset="0"/>
                <a:cs typeface="Times New Roman" panose="02020603050405020304" pitchFamily="18" charset="0"/>
              </a:rPr>
              <a:t>N = 3141730.07 / 840907297​ = 267.66</a:t>
            </a:r>
          </a:p>
          <a:p>
            <a:pPr marL="0" indent="0">
              <a:buNone/>
            </a:pPr>
            <a:r>
              <a:rPr lang="en-US" sz="1800" b="1" dirty="0">
                <a:latin typeface="Times New Roman" panose="02020603050405020304" pitchFamily="18" charset="0"/>
                <a:cs typeface="Times New Roman" panose="02020603050405020304" pitchFamily="18" charset="0"/>
              </a:rPr>
              <a:t>Required Sample Size ≈268 employees</a:t>
            </a:r>
            <a:r>
              <a:rPr lang="en-US" sz="1800" dirty="0">
                <a:latin typeface="Times New Roman" panose="02020603050405020304" pitchFamily="18" charset="0"/>
                <a:cs typeface="Times New Roman" panose="02020603050405020304" pitchFamily="18" charset="0"/>
              </a:rPr>
              <a:t> (This means for a lower confidence level (less certainty), we would need a smaller sample to achieve the same precision.)</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223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0660B-665F-3BAB-4175-546B559F0A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 – Company vs. Industry Income Levels</a:t>
            </a:r>
          </a:p>
        </p:txBody>
      </p:sp>
      <p:sp>
        <p:nvSpPr>
          <p:cNvPr id="3" name="Content Placeholder 2">
            <a:extLst>
              <a:ext uri="{FF2B5EF4-FFF2-40B4-BE49-F238E27FC236}">
                <a16:creationId xmlns:a16="http://schemas.microsoft.com/office/drawing/2014/main" id="{92288AE6-5EDE-8EE9-E1DC-F5ADFA88A614}"/>
              </a:ext>
            </a:extLst>
          </p:cNvPr>
          <p:cNvSpPr>
            <a:spLocks noGrp="1"/>
          </p:cNvSpPr>
          <p:nvPr>
            <p:ph idx="1"/>
          </p:nvPr>
        </p:nvSpPr>
        <p:spPr/>
        <p:txBody>
          <a:bodyPr>
            <a:noAutofit/>
          </a:bodyPr>
          <a:lstStyle/>
          <a:p>
            <a:r>
              <a:rPr lang="en-US" sz="1400" dirty="0">
                <a:latin typeface="Times New Roman" panose="02020603050405020304" pitchFamily="18" charset="0"/>
                <a:cs typeface="Times New Roman" panose="02020603050405020304" pitchFamily="18" charset="0"/>
              </a:rPr>
              <a:t>Let's compare our company's mean salary with the calculated industry average confidence interval.</a:t>
            </a:r>
          </a:p>
          <a:p>
            <a:r>
              <a:rPr lang="en-US" sz="1400" b="1" dirty="0">
                <a:latin typeface="Times New Roman" panose="02020603050405020304" pitchFamily="18" charset="0"/>
                <a:cs typeface="Times New Roman" panose="02020603050405020304" pitchFamily="18" charset="0"/>
              </a:rPr>
              <a:t>Our Company's Mean Salary:</a:t>
            </a:r>
            <a:r>
              <a:rPr lang="en-US" sz="1400" dirty="0">
                <a:latin typeface="Times New Roman" panose="02020603050405020304" pitchFamily="18" charset="0"/>
                <a:cs typeface="Times New Roman" panose="02020603050405020304" pitchFamily="18" charset="0"/>
              </a:rPr>
              <a:t> $34,019.57</a:t>
            </a:r>
          </a:p>
          <a:p>
            <a:r>
              <a:rPr lang="en-US" sz="1400" b="1" dirty="0">
                <a:latin typeface="Times New Roman" panose="02020603050405020304" pitchFamily="18" charset="0"/>
                <a:cs typeface="Times New Roman" panose="02020603050405020304" pitchFamily="18" charset="0"/>
              </a:rPr>
              <a:t>Industry Average 95% Confidence Interval:</a:t>
            </a:r>
            <a:r>
              <a:rPr lang="en-US" sz="1400" dirty="0">
                <a:latin typeface="Times New Roman" panose="02020603050405020304" pitchFamily="18" charset="0"/>
                <a:cs typeface="Times New Roman" panose="02020603050405020304" pitchFamily="18" charset="0"/>
              </a:rPr>
              <a:t> $32,435.49 to $35,980.51</a:t>
            </a:r>
          </a:p>
          <a:p>
            <a:pPr marL="0" indent="0">
              <a:buNone/>
            </a:pPr>
            <a:r>
              <a:rPr lang="en-US" sz="1400" b="1" dirty="0">
                <a:latin typeface="Times New Roman" panose="02020603050405020304" pitchFamily="18" charset="0"/>
                <a:cs typeface="Times New Roman" panose="02020603050405020304" pitchFamily="18" charset="0"/>
              </a:rPr>
              <a:t>Comparison:</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Our company's mean salary of </a:t>
            </a:r>
            <a:r>
              <a:rPr lang="en-US" sz="1400" b="1" dirty="0">
                <a:latin typeface="Times New Roman" panose="02020603050405020304" pitchFamily="18" charset="0"/>
                <a:cs typeface="Times New Roman" panose="02020603050405020304" pitchFamily="18" charset="0"/>
              </a:rPr>
              <a:t>$34,019.57</a:t>
            </a:r>
            <a:r>
              <a:rPr lang="en-US" sz="1400" dirty="0">
                <a:latin typeface="Times New Roman" panose="02020603050405020304" pitchFamily="18" charset="0"/>
                <a:cs typeface="Times New Roman" panose="02020603050405020304" pitchFamily="18" charset="0"/>
              </a:rPr>
              <a:t> falls squarely within the 95% confidence interval for the average income level in the furniture manufacturing industry (32,435.49 − $35,980.51).</a:t>
            </a:r>
          </a:p>
          <a:p>
            <a:pPr marL="0" indent="0">
              <a:buNone/>
            </a:pPr>
            <a:r>
              <a:rPr lang="en-US" sz="1400" b="1" dirty="0">
                <a:latin typeface="Times New Roman" panose="02020603050405020304" pitchFamily="18" charset="0"/>
                <a:cs typeface="Times New Roman" panose="02020603050405020304" pitchFamily="18" charset="0"/>
              </a:rPr>
              <a:t>Implication for Fair Labor Practices: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indicates that, on average, our company's income level is </a:t>
            </a:r>
            <a:r>
              <a:rPr lang="en-US" sz="1400" b="1" dirty="0">
                <a:latin typeface="Times New Roman" panose="02020603050405020304" pitchFamily="18" charset="0"/>
                <a:cs typeface="Times New Roman" panose="02020603050405020304" pitchFamily="18" charset="0"/>
              </a:rPr>
              <a:t>comparable to the industry average</a:t>
            </a:r>
            <a:r>
              <a:rPr lang="en-US" sz="1400" dirty="0">
                <a:latin typeface="Times New Roman" panose="02020603050405020304" pitchFamily="18" charset="0"/>
                <a:cs typeface="Times New Roman" panose="02020603050405020304" pitchFamily="18" charset="0"/>
              </a:rPr>
              <a:t>. This is a positive sign regarding our commitment to fair labor practices in terms of overall compensation competitiveness.</a:t>
            </a:r>
          </a:p>
          <a:p>
            <a:pPr marL="0" indent="0">
              <a:buNone/>
            </a:pPr>
            <a:r>
              <a:rPr lang="en-US" sz="1400" b="1" dirty="0">
                <a:latin typeface="Times New Roman" panose="02020603050405020304" pitchFamily="18" charset="0"/>
                <a:cs typeface="Times New Roman" panose="02020603050405020304" pitchFamily="18" charset="0"/>
              </a:rPr>
              <a:t>Further Recommendations: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While the overall average is competitive, the analysis also highlighted:</a:t>
            </a:r>
          </a:p>
          <a:p>
            <a:r>
              <a:rPr lang="en-US" sz="1400" b="1" dirty="0">
                <a:latin typeface="Times New Roman" panose="02020603050405020304" pitchFamily="18" charset="0"/>
                <a:cs typeface="Times New Roman" panose="02020603050405020304" pitchFamily="18" charset="0"/>
              </a:rPr>
              <a:t>Gender Pay Gap:</a:t>
            </a:r>
            <a:r>
              <a:rPr lang="en-US" sz="1400" dirty="0">
                <a:latin typeface="Times New Roman" panose="02020603050405020304" pitchFamily="18" charset="0"/>
                <a:cs typeface="Times New Roman" panose="02020603050405020304" pitchFamily="18" charset="0"/>
              </a:rPr>
              <a:t> The noticeable difference between male and female mean salaries warrants a deeper dive. We should analyze salary distributions within similar job categories, experience levels, and education to identify and address any potential disparities.</a:t>
            </a:r>
          </a:p>
          <a:p>
            <a:r>
              <a:rPr lang="en-US" sz="1400" b="1" dirty="0">
                <a:latin typeface="Times New Roman" panose="02020603050405020304" pitchFamily="18" charset="0"/>
                <a:cs typeface="Times New Roman" panose="02020603050405020304" pitchFamily="18" charset="0"/>
              </a:rPr>
              <a:t>Detailed Job Category Analysis:</a:t>
            </a:r>
            <a:r>
              <a:rPr lang="en-US" sz="1400" dirty="0">
                <a:latin typeface="Times New Roman" panose="02020603050405020304" pitchFamily="18" charset="0"/>
                <a:cs typeface="Times New Roman" panose="02020603050405020304" pitchFamily="18" charset="0"/>
              </a:rPr>
              <a:t> Future analysis could segment salaries by '</a:t>
            </a:r>
            <a:r>
              <a:rPr lang="en-US" sz="1400" dirty="0" err="1">
                <a:latin typeface="Times New Roman" panose="02020603050405020304" pitchFamily="18" charset="0"/>
                <a:cs typeface="Times New Roman" panose="02020603050405020304" pitchFamily="18" charset="0"/>
              </a:rPr>
              <a:t>jobcat</a:t>
            </a:r>
            <a:r>
              <a:rPr lang="en-US" sz="1400" dirty="0">
                <a:latin typeface="Times New Roman" panose="02020603050405020304" pitchFamily="18" charset="0"/>
                <a:cs typeface="Times New Roman" panose="02020603050405020304" pitchFamily="18" charset="0"/>
              </a:rPr>
              <a:t>' to ensure fairness within specific roles, especially considering category 3 (Manager) likely has much higher salaries.</a:t>
            </a:r>
          </a:p>
        </p:txBody>
      </p:sp>
    </p:spTree>
    <p:extLst>
      <p:ext uri="{BB962C8B-B14F-4D97-AF65-F5344CB8AC3E}">
        <p14:creationId xmlns:p14="http://schemas.microsoft.com/office/powerpoint/2010/main" val="164090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0123FF-1A0D-A04F-2CB8-1F3157DD9F43}"/>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Appendix: Raw Data Calculations &amp; Tools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All statistical calculations were performed using the provided data and standard statistical formulas.</a:t>
            </a:r>
          </a:p>
          <a:p>
            <a:r>
              <a:rPr lang="en-US" dirty="0">
                <a:latin typeface="Times New Roman" panose="02020603050405020304" pitchFamily="18" charset="0"/>
                <a:cs typeface="Times New Roman" panose="02020603050405020304" pitchFamily="18" charset="0"/>
              </a:rPr>
              <a:t>Data parsing and summary were done programmatically to ensure accuracy.</a:t>
            </a:r>
          </a:p>
          <a:p>
            <a:r>
              <a:rPr lang="en-US" dirty="0">
                <a:latin typeface="Times New Roman" panose="02020603050405020304" pitchFamily="18" charset="0"/>
                <a:cs typeface="Times New Roman" panose="02020603050405020304" pitchFamily="18" charset="0"/>
              </a:rPr>
              <a:t>Excel functions were utilized for calculations.</a:t>
            </a:r>
          </a:p>
        </p:txBody>
      </p:sp>
    </p:spTree>
    <p:extLst>
      <p:ext uri="{BB962C8B-B14F-4D97-AF65-F5344CB8AC3E}">
        <p14:creationId xmlns:p14="http://schemas.microsoft.com/office/powerpoint/2010/main" val="3256354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TotalTime>
  <Words>1392</Words>
  <Application>Microsoft Macintosh PowerPoint</Application>
  <PresentationFormat>Widescreen</PresentationFormat>
  <Paragraphs>140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Employee Income Levels &amp; Fair Labor Practices: A Data Analysis Report</vt:lpstr>
      <vt:lpstr>Introduction – Our Commitment to Fair Labor Practices </vt:lpstr>
      <vt:lpstr>Employee Demographic Profile – Gender Distribution</vt:lpstr>
      <vt:lpstr>Employee Demographic Profile – Education Levels</vt:lpstr>
      <vt:lpstr>Employee Demographic Profile – Tenure with the Company</vt:lpstr>
      <vt:lpstr>Employee Demographic Profile – Minority Status</vt:lpstr>
      <vt:lpstr>Employee Income Levels – Overall Salary Statistics</vt:lpstr>
      <vt:lpstr>Employee Income Levels – Salary by Gender</vt:lpstr>
      <vt:lpstr>Understanding Industry Benchmarks – Statistical Concepts Explained</vt:lpstr>
      <vt:lpstr>Industry Income Analysis – Margin of Error and Confidence Interval</vt:lpstr>
      <vt:lpstr>Industry Income Analysis – Required Sample Size for Different Confidence Levels</vt:lpstr>
      <vt:lpstr>Conclusion – Company vs. Industry Income Levels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dc:creator>
  <cp:lastModifiedBy>Mac</cp:lastModifiedBy>
  <cp:revision>8</cp:revision>
  <dcterms:created xsi:type="dcterms:W3CDTF">2025-07-23T07:04:39Z</dcterms:created>
  <dcterms:modified xsi:type="dcterms:W3CDTF">2025-07-23T15:57:00Z</dcterms:modified>
</cp:coreProperties>
</file>